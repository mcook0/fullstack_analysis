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1" r:id="rId16"/>
    <p:sldId id="302" r:id="rId17"/>
    <p:sldId id="303" r:id="rId18"/>
    <p:sldId id="30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ln w="31750" cap="flat">
              <a:solidFill>
                <a:srgbClr val="6B4F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4FBB"/>
              </a:solidFill>
              <a:ln w="9525" cap="flat">
                <a:solidFill>
                  <a:srgbClr val="6B4FBB"/>
                </a:solidFill>
                <a:prstDash val="solid"/>
                <a:round/>
              </a:ln>
              <a:effectLst/>
            </c:spPr>
          </c:marker>
          <c:cat>
            <c:strRef>
              <c:f>Sheet1!$A$2:$A$29</c:f>
              <c:strCache>
                <c:ptCount val="28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  <c:pt idx="12">
                  <c:v>Jul</c:v>
                </c:pt>
                <c:pt idx="13">
                  <c:v>Aug</c:v>
                </c:pt>
                <c:pt idx="14">
                  <c:v>Sep</c:v>
                </c:pt>
                <c:pt idx="15">
                  <c:v>Oct</c:v>
                </c:pt>
                <c:pt idx="16">
                  <c:v>Nov</c:v>
                </c:pt>
                <c:pt idx="17">
                  <c:v>Dec</c:v>
                </c:pt>
                <c:pt idx="18">
                  <c:v>Jan</c:v>
                </c:pt>
                <c:pt idx="19">
                  <c:v>Feb</c:v>
                </c:pt>
                <c:pt idx="20">
                  <c:v>Mar</c:v>
                </c:pt>
                <c:pt idx="21">
                  <c:v>Apr</c:v>
                </c:pt>
                <c:pt idx="22">
                  <c:v>May</c:v>
                </c:pt>
                <c:pt idx="23">
                  <c:v>Jun</c:v>
                </c:pt>
                <c:pt idx="24">
                  <c:v>Jul</c:v>
                </c:pt>
                <c:pt idx="25">
                  <c:v>Aug</c:v>
                </c:pt>
                <c:pt idx="26">
                  <c:v>Sep</c:v>
                </c:pt>
                <c:pt idx="27">
                  <c:v>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45</c:v>
                </c:pt>
                <c:pt idx="1">
                  <c:v>50</c:v>
                </c:pt>
                <c:pt idx="2">
                  <c:v>48</c:v>
                </c:pt>
                <c:pt idx="3">
                  <c:v>52</c:v>
                </c:pt>
                <c:pt idx="4">
                  <c:v>55</c:v>
                </c:pt>
                <c:pt idx="5">
                  <c:v>60</c:v>
                </c:pt>
                <c:pt idx="6">
                  <c:v>58</c:v>
                </c:pt>
                <c:pt idx="7">
                  <c:v>62</c:v>
                </c:pt>
                <c:pt idx="8">
                  <c:v>65</c:v>
                </c:pt>
                <c:pt idx="9">
                  <c:v>60</c:v>
                </c:pt>
                <c:pt idx="10">
                  <c:v>63</c:v>
                </c:pt>
                <c:pt idx="11">
                  <c:v>70</c:v>
                </c:pt>
                <c:pt idx="12">
                  <c:v>75</c:v>
                </c:pt>
                <c:pt idx="13">
                  <c:v>80</c:v>
                </c:pt>
                <c:pt idx="14">
                  <c:v>78</c:v>
                </c:pt>
                <c:pt idx="15">
                  <c:v>85</c:v>
                </c:pt>
                <c:pt idx="16">
                  <c:v>88</c:v>
                </c:pt>
                <c:pt idx="17">
                  <c:v>95</c:v>
                </c:pt>
                <c:pt idx="18">
                  <c:v>100</c:v>
                </c:pt>
                <c:pt idx="19">
                  <c:v>105</c:v>
                </c:pt>
                <c:pt idx="20">
                  <c:v>110</c:v>
                </c:pt>
                <c:pt idx="21">
                  <c:v>108</c:v>
                </c:pt>
                <c:pt idx="22">
                  <c:v>115</c:v>
                </c:pt>
                <c:pt idx="23">
                  <c:v>120</c:v>
                </c:pt>
                <c:pt idx="24">
                  <c:v>130</c:v>
                </c:pt>
                <c:pt idx="25">
                  <c:v>145</c:v>
                </c:pt>
                <c:pt idx="26">
                  <c:v>160</c:v>
                </c:pt>
                <c:pt idx="27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D5-41DB-91D2-86DD93163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12700" cap="flat">
              <a:solidFill>
                <a:srgbClr val="E0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Total Resellers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C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Total Orders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97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AdventureWorks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Full-Stack Sales Pipeline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</a:rPr>
              <a:t>Portfolio Project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Tools: MySQL  ·  SQL  ·  Power BI  ·  Data Modeling  ·  Business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2E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FBB"/>
                </a:solidFill>
              </a:rPr>
              <a:t>What I Built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558"/>
                </a:solidFill>
              </a:rPr>
              <a:t>Analyzed 4,000 reseller sales orders across 632 unique resellers and 17 salespersons in 10 global territories.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558"/>
                </a:solidFill>
              </a:rPr>
              <a:t>Goal: Identify which territories are underperforming and whether the gap is driven by reseller coverage, salesperson quality, or product-category fit.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558"/>
                </a:solidFill>
              </a:rPr>
              <a:t>Scope: Accessories, Bikes, Clothing, and Components across 2017–2020.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914400"/>
            <a:ext cx="512064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024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MySQL + Workbench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417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BEE0"/>
                </a:solidFill>
              </a:rPr>
              <a:t>Database hosting, cleaning queries, view creation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512064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971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BEE0"/>
                </a:solidFill>
              </a:rPr>
              <a:t>Data inspection, transformation, view architecture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4023360"/>
            <a:ext cx="512064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Power BI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526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BEE0"/>
                </a:solidFill>
              </a:rPr>
              <a:t>Live connection, DAX measures, 3-page dashboard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BB"/>
                </a:solidFill>
              </a:rPr>
              <a:t>CSV → MySQL → SQL View → Power BI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Cleaning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Preparation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BEE0"/>
                </a:solidFill>
              </a:rPr>
              <a:t>Building a trustworthy foundation before any analysis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Data Cleaning — What I Checked &amp; Why It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1430000" cy="804672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87552"/>
            <a:ext cx="475488" cy="475488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8778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Row Count &amp; Null Checks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243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243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No action needed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9875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0 nulls across all key columns in sales, product, reseller 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11430000" cy="804672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01952"/>
            <a:ext cx="475488" cy="475488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792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Duplicate Order Numbers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157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Retained — legitimate one order, multiple products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9019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Multiple rows per order number — investigated as multi-line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11430000" cy="804672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16352"/>
            <a:ext cx="475488" cy="47548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7066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OrderDate Format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0723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Parsed to DATE using STR_TO_DATE with %W, %M %d, %Y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8163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Stored as full text — "Friday, August 25, 2017"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11430000" cy="804672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30752"/>
            <a:ext cx="475488" cy="475488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6210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Whitespace — All Tables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9867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TRIM applied to all text columns across 3 tables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7307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Potential leading/trailing spaces in product, reseller, salesperson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11430000" cy="804672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645152"/>
            <a:ext cx="475488" cy="47548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" y="4645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5354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Currency Formatting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4901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4901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Stripped using REPLACE before numeric use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46451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StandardCost stored with $ and , characters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5394960"/>
            <a:ext cx="11430000" cy="804672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5559552"/>
            <a:ext cx="475488" cy="47548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5559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97280" y="54498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Character Encoding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" y="5815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BB"/>
                </a:solidFill>
              </a:rPr>
              <a:t>Action: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5815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Fixed with targeted UPDATE using LIKE pattern match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55595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José Saraiva stored as JosÃ© Saraiva in salesperson table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Territory Analysis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Key Findings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BEE0"/>
                </a:solidFill>
              </a:rPr>
              <a:t>Mapping sales performance to find underperforming markets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Dataset at a Glance — Key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BEE0"/>
                </a:solidFill>
              </a:rPr>
              <a:t>Total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56032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632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BEE0"/>
                </a:solidFill>
              </a:rPr>
              <a:t>Unique Resellers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56032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BEE0"/>
                </a:solidFill>
              </a:rPr>
              <a:t>Salespersons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868680"/>
            <a:ext cx="2560320" cy="12801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BEE0"/>
                </a:solidFill>
              </a:rPr>
              <a:t>Territories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FBB"/>
                </a:solidFill>
              </a:rPr>
              <a:t>Orders by Territory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34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Southwest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880360"/>
            <a:ext cx="5029200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28346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717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Canada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246120"/>
            <a:ext cx="4626864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78624" y="32004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658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Northwest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611880"/>
            <a:ext cx="3621024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72784" y="35661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513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Southeast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977640"/>
            <a:ext cx="3168396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20156" y="39319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455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Central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4343400"/>
            <a:ext cx="2564892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16652" y="42976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363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63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Northeast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4709160"/>
            <a:ext cx="2313432" cy="20116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65192" y="4663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331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029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France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5074920"/>
            <a:ext cx="1257300" cy="201168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09060" y="5029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179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394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United Kingdom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5440680"/>
            <a:ext cx="1207008" cy="201168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58768" y="5394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174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760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Germany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0" y="5806440"/>
            <a:ext cx="804672" cy="201168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56432" y="57607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118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126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Australia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0" y="6172200"/>
            <a:ext cx="754380" cy="201168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06140" y="6126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108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46720" y="2377440"/>
            <a:ext cx="3840480" cy="23774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B84B"/>
                </a:solidFill>
              </a:rPr>
              <a:t>212.7</a:t>
            </a:r>
            <a:endParaRPr lang="en-US" sz="4200" dirty="0"/>
          </a:p>
        </p:txBody>
      </p:sp>
      <p:sp>
        <p:nvSpPr>
          <p:cNvPr id="49" name="Text 47"/>
          <p:cNvSpPr txBox="1"/>
          <p:nvPr/>
        </p:nvSpPr>
        <p:spPr>
          <a:xfrm>
            <a:off x="80467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Orders per Salesperson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04672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BEE0"/>
                </a:solidFill>
              </a:rPr>
              <a:t>Team average — but distribution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BEE0"/>
                </a:solidFill>
              </a:rPr>
              <a:t>is highly uneven across territories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Territory Performance — Coverage Drives Volume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B84B"/>
                </a:solidFill>
              </a:rPr>
              <a:t>&lt; 230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combined orders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Australia + Germany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BEE0"/>
                </a:solidFill>
              </a:rPr>
              <a:t>vs. 717 for Southwest alone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840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BEE0"/>
                </a:solidFill>
              </a:rPr>
              <a:t>Concentration risk — 2 territories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5BEE0"/>
                </a:solidFill>
              </a:rPr>
              <a:t>underserved vs. peer markets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BB"/>
                </a:solidFill>
              </a:rPr>
              <a:t>Orders by Category Across All Territories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Bikes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673352"/>
            <a:ext cx="5898141" cy="34747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057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33.2%  ·  3,009 orders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770632"/>
            <a:ext cx="4903274" cy="347472"/>
          </a:xfrm>
          <a:prstGeom prst="rect">
            <a:avLst/>
          </a:prstGeom>
          <a:solidFill>
            <a:srgbClr val="8B72D4"/>
          </a:solidFill>
          <a:ln w="12700">
            <a:solidFill>
              <a:srgbClr val="8B72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27.6%  ·  2,505 orders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Clothing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867912"/>
            <a:ext cx="4512433" cy="34747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25.4%  ·  2,299 orders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Accessories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4965192"/>
            <a:ext cx="2451637" cy="347472"/>
          </a:xfrm>
          <a:prstGeom prst="rect">
            <a:avLst/>
          </a:prstGeom>
          <a:solidFill>
            <a:srgbClr val="C5BEE0"/>
          </a:solidFill>
          <a:ln w="12700">
            <a:solidFill>
              <a:srgbClr val="C5BE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5349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13.8%  ·  1,249 orders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Monthly Order Trend — Consistent Growth 2017–2020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097280"/>
            <a:ext cx="3291840" cy="118872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188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</a:rPr>
              <a:t>+260%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order growth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2017 → 2020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2743200"/>
            <a:ext cx="3291840" cy="10058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</a:rPr>
              <a:t>~50/month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558"/>
                </a:solidFill>
              </a:rPr>
              <a:t>mid-2017 starting point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03920" y="3931920"/>
            <a:ext cx="3291840" cy="10058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</a:rPr>
              <a:t>~185/month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558"/>
                </a:solidFill>
              </a:rPr>
              <a:t>by late 2020 peak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0" y="5120640"/>
            <a:ext cx="3291840" cy="10058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03920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</a:rPr>
              <a:t>Consistent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558"/>
                </a:solidFill>
              </a:rPr>
              <a:t>upward trend — no plateau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Salesperson Performance &amp; Reseller Coverage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BB"/>
                </a:solidFill>
              </a:rPr>
              <a:t>Top Salespersons by Orders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Tsvi Reiter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2560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581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430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Linda Mitchell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962656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2267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310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Jae Pak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839212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7852" y="2953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295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Jillian Carson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098548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47188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220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Michael Blythe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1728216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76856" y="4325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180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Garrett Vargas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1687068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35708" y="5010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175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Tete Mensa-Annan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715000"/>
            <a:ext cx="1152144" cy="256032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00784" y="5696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120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822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BB"/>
                </a:solidFill>
              </a:rPr>
              <a:t>Reseller Coverage vs. Orders — By Territory</a:t>
            </a:r>
            <a:endParaRPr lang="en-US" sz="14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583680" y="1280160"/>
          <a:ext cx="52120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BB"/>
                </a:solidFill>
              </a:rPr>
              <a:t>Key finding: Reseller count correlates directly with order volume — underperformance is a coverage gap, not a headcount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Business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Recommendations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BEE0"/>
                </a:solidFill>
              </a:rPr>
              <a:t>Turning findings into actionable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Three Data-Backed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160020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0" cy="1600200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417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005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</a:rPr>
              <a:t>Expand the Reseller Network in Australia &amp; Germany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17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Australia and Germany combined for fewer than 230 orders — against 717 for Southwest. The data shows coverage drives volume, not rep count. Recruiting 20–30 new reseller partners in each territory is the highest-ROI action before adding any salesperson headcount.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1430000" cy="160020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743200"/>
            <a:ext cx="640080" cy="16002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3246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34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</a:rPr>
              <a:t>Investigate France &amp; United Kingdom Engagement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461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Both markets have adequate reseller coverage but disproportionately low order volumes compared to peer territories. The gap points to a product-fit or sales engagement issue — conduct a Bikes-focused sales review in both markets before any structural changes.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11430000" cy="160020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72000"/>
            <a:ext cx="640080" cy="160020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50749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663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</a:rPr>
              <a:t>Replicate Tsvi Reiter's Engagement Model Team-Wide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At 400+ orders, Tsvi Reiter operates at nearly double the team average. Documenting and sharing his reseller engagement approach across the wider team could meaningfully lift performance in mid-tier territories without additional headcount investment.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Project Deliverables &amp; Power BI Dashboard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BB"/>
                </a:solidFill>
              </a:rPr>
              <a:t>Power BI Dashboard — 3 Pages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486400" cy="5486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KPI Cards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Total orders, resellers, salespersons, orders/salesperson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5486400" cy="54864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Territory Bar Chart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2128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All 10 territories ranked by order volume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486400" cy="5486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96896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Monthly Trend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712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Order growth from 2017 to 2020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5486400" cy="54864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55264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Scatter Plot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5295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Salesperson efficiency — resellers vs. orders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5486400" cy="5486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13632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Region × Category Matrix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187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Order counts by territory and product category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5486400" cy="54864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572000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Salesperson Bar Chart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8463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All 17 salespersons ranked with region color coding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230368"/>
            <a:ext cx="5486400" cy="54864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230368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5266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Product Charts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55046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Top 10 products, donut by category, subcategory column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888736"/>
            <a:ext cx="5486400" cy="54864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888736"/>
            <a:ext cx="109728" cy="54864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5925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Slicers (×3)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1630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558"/>
                </a:solidFill>
              </a:rPr>
              <a:t>Year, SalesGroup, Category — cross-filter all visuals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822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BB"/>
                </a:solidFill>
              </a:rPr>
              <a:t>SQL File — fullstack_project.sql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1280160"/>
            <a:ext cx="5394960" cy="82296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1280160"/>
            <a:ext cx="109728" cy="8229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294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Phase 1 — Inspection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16824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7 queries: row counts, null checks, duplicates, date format audit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2286000"/>
            <a:ext cx="5394960" cy="82296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2286000"/>
            <a:ext cx="109728" cy="8229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9400" y="23408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Phase 2 — Cleaning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Date parsing, TRIM, REPLACE, encoding fix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291840"/>
            <a:ext cx="5394960" cy="82296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291840"/>
            <a:ext cx="109728" cy="8229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29400" y="33467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Phase 3 — View Creation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62940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vw_sales_analysis joining all 5 tables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297680"/>
            <a:ext cx="5394960" cy="82296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4297680"/>
            <a:ext cx="109728" cy="8229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29400" y="4352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Phase 4 — Business Queries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629400" y="47000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558"/>
                </a:solidFill>
              </a:rPr>
              <a:t>6 queries answering territory, category, salesperson, and trend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</a:rPr>
              <a:t>Skills Demonstrated in This Project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9784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Data Inspection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Null checks, duplicate detection, referential integrity, date format audit, character encoding fix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9144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9784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Data Cleaning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STR_TO_DATE parsing, TRIM across 3 tables, REPLACE for currency symbols, targeted UPDATE 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8072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View Architecture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Single analytical view joining 5 tables — Power BI reads one clean object, not raw 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432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8072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 &amp; DAX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Live MySQL connection, DISTINCTCOUNT and DIVIDE measures, 3-page dashboard, tile slicers, cross-filtering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5720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6360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Insight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Translated territory data into 3 actionable recommendations tied to reseller coverage and engagement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486400" cy="1554480"/>
          </a:xfrm>
          <a:prstGeom prst="rect">
            <a:avLst/>
          </a:prstGeom>
          <a:solidFill>
            <a:srgbClr val="F0EEF8"/>
          </a:solidFill>
          <a:ln w="12700">
            <a:solidFill>
              <a:srgbClr val="F0EE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572000"/>
            <a:ext cx="5486400" cy="41148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6360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558"/>
                </a:solidFill>
              </a:rPr>
              <a:t>GitHub README in narrative style, SQL file with inline comments, pipeline architecture diagram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B84B"/>
                </a:solidFill>
              </a:rPr>
              <a:t>AdventureWorks Full-Stack Sales Pipeline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84B"/>
                </a:solidFill>
              </a:rPr>
              <a:t>4,000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BEE0"/>
                </a:solidFill>
              </a:rPr>
              <a:t>Orders Analyzed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84B"/>
                </a:solidFill>
              </a:rPr>
              <a:t>632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BEE0"/>
                </a:solidFill>
              </a:rPr>
              <a:t>Resellers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84B"/>
                </a:solidFill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BEE0"/>
                </a:solidFill>
              </a:rPr>
              <a:t>Territories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84B"/>
                </a:solidFill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BEE0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Tools: MySQL  ·  SQL  ·  Power BI  ·  Data Modeling  ·  Business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Power BI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Dashboard Preview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BEE0"/>
                </a:solidFill>
              </a:rPr>
              <a:t>3 pages — Executive Summary · Territory Deep Dive · Product Performance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566928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BEE0"/>
                </a:solidFill>
              </a:rPr>
              <a:t>KPI Cards · Territory Bar Chart · Monthly Trend · Salesperson Scatter · 3 Slicers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40312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74833" y="1048761"/>
            <a:ext cx="3200400" cy="82296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66273" y="1140201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Australia &amp; Germany  - lowest territory volume 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566928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Territory Deep Dive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BEE0"/>
                </a:solidFill>
              </a:rPr>
              <a:t>Region × Category Matrix · Reseller Coverage Chart · Orders by Salesperson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40312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90515" y="4301412"/>
            <a:ext cx="2524117" cy="1380931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36235" y="4470668"/>
            <a:ext cx="2587752" cy="1043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Tsvi Reiter at 400+ orders  - nearly double the team average - top of the bar chart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566928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 Performance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BEE0"/>
                </a:solidFill>
              </a:rPr>
              <a:t>Top 10 Products · Orders by Category (Donut) · Orders by Subcategory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40312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01488" y="4665306"/>
            <a:ext cx="3999100" cy="705394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84250" y="4643845"/>
            <a:ext cx="4023360" cy="603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Bikes = 33.2% of all orders · AWC Logo Cap &amp; Long-Sleeve Logo are top products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1111</Words>
  <Application>Microsoft Office PowerPoint</Application>
  <PresentationFormat>Szélesvásznú</PresentationFormat>
  <Paragraphs>225</Paragraphs>
  <Slides>18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Marianna Cook</cp:lastModifiedBy>
  <cp:revision>8</cp:revision>
  <dcterms:created xsi:type="dcterms:W3CDTF">2026-08-31T16:20:46Z</dcterms:created>
  <dcterms:modified xsi:type="dcterms:W3CDTF">2026-08-31T16:33:48Z</dcterms:modified>
</cp:coreProperties>
</file>