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71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89819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A full-stack SQL to Power BI portfolio project on the AdventureWorks reseller sales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4,000 reseller orders, 632 resellers, 17 salespersons, 10 territories. The question: is territory underperformance a coverage, quality, or product-fit problem?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break: data cleaning and preparation.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checks. Three passed clean; three required fixes — date parsing, currency stripping, and an encoding repair.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break: territory analysis and key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Southwest leads at 717 orders; Australia trails at 108. Team average is 212.7 orders per salesperson, but distribution is uneven.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Australia and Germany together are below 230 orders versus 717 for Southwest alone. Category mix is consistent everywhere — Bikes lead at a third of orders.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 volume grew about 260% from mid-2017 to late 2020 with no plateau — growth is structural, not a one-off spike.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Tsvi Reiter at 430 orders is roughly double the team average. Reseller count tracks order volume almost linearly — the gap is coverage, not headcount.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break: business recommendations.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actions: expand resellers in Australia and Germany, investigate France and UK engagement, and replicate Tsvi Reiter's model team-wide.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Deliverables: a 3-page Power BI dashboard with eight visual groups, plus a documented four-phase SQL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the project demonstrates end to end: inspection, cleaning, view architecture, DAX, business insight, documentation.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break into the dashboard walkthrough.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 1: KPI cards, territory bar chart, monthly trend, salesperson scatter, and three slicers.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 2: region by category matrix, reseller coverage chart, orders by salesperson.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 3: top 10 products, orders by category donut, orders by subcategory.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Close. Recap the four headline numbers and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953376" y="-3267105"/>
            <a:ext cx="2559301" cy="2559302"/>
          </a:xfrm>
          <a:prstGeom prst="rect">
            <a:avLst/>
          </a:prstGeom>
          <a:solidFill>
            <a:srgbClr val="CFDDE3"/>
          </a:solidFill>
          <a:ln/>
        </p:spPr>
      </p:sp>
      <p:sp>
        <p:nvSpPr>
          <p:cNvPr id="3" name="Shape 1"/>
          <p:cNvSpPr/>
          <p:nvPr/>
        </p:nvSpPr>
        <p:spPr>
          <a:xfrm>
            <a:off x="15340740" y="-1879741"/>
            <a:ext cx="2559302" cy="2559302"/>
          </a:xfrm>
          <a:prstGeom prst="rect">
            <a:avLst/>
          </a:prstGeom>
          <a:solidFill>
            <a:srgbClr val="7FA8B8"/>
          </a:solidFill>
          <a:ln/>
        </p:spPr>
      </p:sp>
      <p:sp>
        <p:nvSpPr>
          <p:cNvPr id="4" name="Shape 2"/>
          <p:cNvSpPr/>
          <p:nvPr/>
        </p:nvSpPr>
        <p:spPr>
          <a:xfrm>
            <a:off x="16728106" y="-492376"/>
            <a:ext cx="2559302" cy="2559302"/>
          </a:xfrm>
          <a:prstGeom prst="rect">
            <a:avLst/>
          </a:prstGeom>
          <a:solidFill>
            <a:srgbClr val="EDF1F2"/>
          </a:solidFill>
          <a:ln/>
        </p:spPr>
      </p:sp>
      <p:sp>
        <p:nvSpPr>
          <p:cNvPr id="5" name="Shape 3"/>
          <p:cNvSpPr/>
          <p:nvPr/>
        </p:nvSpPr>
        <p:spPr>
          <a:xfrm>
            <a:off x="18115470" y="894988"/>
            <a:ext cx="2559302" cy="2559302"/>
          </a:xfrm>
          <a:prstGeom prst="rect">
            <a:avLst/>
          </a:prstGeom>
          <a:solidFill>
            <a:srgbClr val="3F7383"/>
          </a:solidFill>
          <a:ln/>
        </p:spPr>
      </p:sp>
      <p:sp>
        <p:nvSpPr>
          <p:cNvPr id="6" name="Shape 4"/>
          <p:cNvSpPr/>
          <p:nvPr/>
        </p:nvSpPr>
        <p:spPr>
          <a:xfrm>
            <a:off x="12566011" y="-1879741"/>
            <a:ext cx="2559302" cy="2559302"/>
          </a:xfrm>
          <a:prstGeom prst="rect">
            <a:avLst/>
          </a:prstGeom>
          <a:solidFill>
            <a:srgbClr val="8FB4C2"/>
          </a:solidFill>
          <a:ln/>
        </p:spPr>
      </p:sp>
      <p:sp>
        <p:nvSpPr>
          <p:cNvPr id="7" name="Shape 5"/>
          <p:cNvSpPr/>
          <p:nvPr/>
        </p:nvSpPr>
        <p:spPr>
          <a:xfrm>
            <a:off x="13953376" y="-492376"/>
            <a:ext cx="2559301" cy="2559302"/>
          </a:xfrm>
          <a:prstGeom prst="rect">
            <a:avLst/>
          </a:prstGeom>
          <a:solidFill>
            <a:srgbClr val="2E6270"/>
          </a:solidFill>
          <a:ln/>
        </p:spPr>
      </p:sp>
      <p:sp>
        <p:nvSpPr>
          <p:cNvPr id="8" name="Shape 6"/>
          <p:cNvSpPr/>
          <p:nvPr/>
        </p:nvSpPr>
        <p:spPr>
          <a:xfrm>
            <a:off x="15340740" y="894988"/>
            <a:ext cx="2559302" cy="2559302"/>
          </a:xfrm>
          <a:prstGeom prst="rect">
            <a:avLst/>
          </a:prstGeom>
          <a:solidFill>
            <a:srgbClr val="DCE6EA"/>
          </a:solidFill>
          <a:ln/>
        </p:spPr>
      </p:sp>
      <p:sp>
        <p:nvSpPr>
          <p:cNvPr id="9" name="Shape 7"/>
          <p:cNvSpPr/>
          <p:nvPr/>
        </p:nvSpPr>
        <p:spPr>
          <a:xfrm>
            <a:off x="16728106" y="2282353"/>
            <a:ext cx="2559302" cy="2559302"/>
          </a:xfrm>
          <a:prstGeom prst="rect">
            <a:avLst/>
          </a:prstGeom>
          <a:solidFill>
            <a:srgbClr val="5E93A3"/>
          </a:solidFill>
          <a:ln/>
        </p:spPr>
      </p:sp>
      <p:sp>
        <p:nvSpPr>
          <p:cNvPr id="10" name="Shape 8"/>
          <p:cNvSpPr/>
          <p:nvPr/>
        </p:nvSpPr>
        <p:spPr>
          <a:xfrm>
            <a:off x="11178647" y="-492376"/>
            <a:ext cx="2559301" cy="2559302"/>
          </a:xfrm>
          <a:prstGeom prst="rect">
            <a:avLst/>
          </a:prstGeom>
          <a:solidFill>
            <a:srgbClr val="4C8C9C"/>
          </a:solidFill>
          <a:ln/>
        </p:spPr>
      </p:sp>
      <p:sp>
        <p:nvSpPr>
          <p:cNvPr id="11" name="Shape 9"/>
          <p:cNvSpPr/>
          <p:nvPr/>
        </p:nvSpPr>
        <p:spPr>
          <a:xfrm>
            <a:off x="12566011" y="894988"/>
            <a:ext cx="2559302" cy="2559302"/>
          </a:xfrm>
          <a:prstGeom prst="rect">
            <a:avLst/>
          </a:prstGeom>
          <a:solidFill>
            <a:srgbClr val="E4EBEE"/>
          </a:solidFill>
          <a:ln/>
        </p:spPr>
      </p:sp>
      <p:sp>
        <p:nvSpPr>
          <p:cNvPr id="12" name="Shape 10"/>
          <p:cNvSpPr/>
          <p:nvPr/>
        </p:nvSpPr>
        <p:spPr>
          <a:xfrm>
            <a:off x="13953376" y="2282353"/>
            <a:ext cx="2559301" cy="2559302"/>
          </a:xfrm>
          <a:prstGeom prst="rect">
            <a:avLst/>
          </a:prstGeom>
          <a:solidFill>
            <a:srgbClr val="6E9FAF"/>
          </a:solidFill>
          <a:ln/>
        </p:spPr>
      </p:sp>
      <p:sp>
        <p:nvSpPr>
          <p:cNvPr id="13" name="Shape 11"/>
          <p:cNvSpPr/>
          <p:nvPr/>
        </p:nvSpPr>
        <p:spPr>
          <a:xfrm>
            <a:off x="15340740" y="3669717"/>
            <a:ext cx="2559302" cy="2559302"/>
          </a:xfrm>
          <a:prstGeom prst="rect">
            <a:avLst/>
          </a:prstGeom>
          <a:solidFill>
            <a:srgbClr val="B7CCD4"/>
          </a:solidFill>
          <a:ln/>
        </p:spPr>
      </p:sp>
      <p:sp>
        <p:nvSpPr>
          <p:cNvPr id="14" name="Shape 12"/>
          <p:cNvSpPr/>
          <p:nvPr/>
        </p:nvSpPr>
        <p:spPr>
          <a:xfrm>
            <a:off x="9791283" y="894988"/>
            <a:ext cx="2559302" cy="2559302"/>
          </a:xfrm>
          <a:prstGeom prst="rect">
            <a:avLst/>
          </a:prstGeom>
          <a:solidFill>
            <a:srgbClr val="EDF1F2"/>
          </a:solidFill>
          <a:ln/>
        </p:spPr>
      </p:sp>
      <p:sp>
        <p:nvSpPr>
          <p:cNvPr id="15" name="Shape 13"/>
          <p:cNvSpPr/>
          <p:nvPr/>
        </p:nvSpPr>
        <p:spPr>
          <a:xfrm>
            <a:off x="11178647" y="2282353"/>
            <a:ext cx="2559301" cy="2559302"/>
          </a:xfrm>
          <a:prstGeom prst="rect">
            <a:avLst/>
          </a:prstGeom>
          <a:solidFill>
            <a:srgbClr val="5E93A3"/>
          </a:solidFill>
          <a:ln/>
        </p:spPr>
      </p:sp>
      <p:sp>
        <p:nvSpPr>
          <p:cNvPr id="16" name="Shape 14"/>
          <p:cNvSpPr/>
          <p:nvPr/>
        </p:nvSpPr>
        <p:spPr>
          <a:xfrm>
            <a:off x="12566011" y="3669717"/>
            <a:ext cx="2559302" cy="2559302"/>
          </a:xfrm>
          <a:prstGeom prst="rect">
            <a:avLst/>
          </a:prstGeom>
          <a:solidFill>
            <a:srgbClr val="31697A"/>
          </a:solidFill>
          <a:ln/>
        </p:spPr>
      </p:sp>
      <p:sp>
        <p:nvSpPr>
          <p:cNvPr id="17" name="Shape 15"/>
          <p:cNvSpPr/>
          <p:nvPr/>
        </p:nvSpPr>
        <p:spPr>
          <a:xfrm>
            <a:off x="13953376" y="5057082"/>
            <a:ext cx="2559301" cy="2559302"/>
          </a:xfrm>
          <a:prstGeom prst="rect">
            <a:avLst/>
          </a:prstGeom>
          <a:solidFill>
            <a:srgbClr val="CFDDE3"/>
          </a:solidFill>
          <a:ln/>
        </p:spPr>
      </p:sp>
      <p:sp>
        <p:nvSpPr>
          <p:cNvPr id="18" name="Shape 16"/>
          <p:cNvSpPr/>
          <p:nvPr/>
        </p:nvSpPr>
        <p:spPr>
          <a:xfrm>
            <a:off x="8403918" y="2282353"/>
            <a:ext cx="2559302" cy="2559302"/>
          </a:xfrm>
          <a:prstGeom prst="rect">
            <a:avLst/>
          </a:prstGeom>
          <a:solidFill>
            <a:srgbClr val="93B8C6"/>
          </a:solidFill>
          <a:ln/>
        </p:spPr>
      </p:sp>
      <p:sp>
        <p:nvSpPr>
          <p:cNvPr id="19" name="Shape 17"/>
          <p:cNvSpPr/>
          <p:nvPr/>
        </p:nvSpPr>
        <p:spPr>
          <a:xfrm>
            <a:off x="9791283" y="3669717"/>
            <a:ext cx="2559302" cy="2559302"/>
          </a:xfrm>
          <a:prstGeom prst="rect">
            <a:avLst/>
          </a:prstGeom>
          <a:solidFill>
            <a:srgbClr val="DCE6EA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78647" y="5057082"/>
            <a:ext cx="2559301" cy="2559302"/>
          </a:xfrm>
          <a:prstGeom prst="rect">
            <a:avLst/>
          </a:prstGeom>
          <a:solidFill>
            <a:srgbClr val="4C8C9C"/>
          </a:solidFill>
          <a:ln/>
        </p:spPr>
      </p:sp>
      <p:sp>
        <p:nvSpPr>
          <p:cNvPr id="21" name="Shape 19"/>
          <p:cNvSpPr/>
          <p:nvPr/>
        </p:nvSpPr>
        <p:spPr>
          <a:xfrm>
            <a:off x="12566011" y="6444447"/>
            <a:ext cx="2559302" cy="2559302"/>
          </a:xfrm>
          <a:prstGeom prst="rect">
            <a:avLst/>
          </a:prstGeom>
          <a:solidFill>
            <a:srgbClr val="EDF1F2"/>
          </a:solidFill>
          <a:ln/>
        </p:spPr>
      </p:sp>
      <p:sp>
        <p:nvSpPr>
          <p:cNvPr id="22" name="Shape 20"/>
          <p:cNvSpPr/>
          <p:nvPr/>
        </p:nvSpPr>
        <p:spPr>
          <a:xfrm>
            <a:off x="11834425" y="-246188"/>
            <a:ext cx="8572499" cy="10286899"/>
          </a:xfrm>
          <a:prstGeom prst="rect">
            <a:avLst/>
          </a:prstGeom>
          <a:gradFill rotWithShape="1">
            <a:gsLst>
              <a:gs pos="0">
                <a:srgbClr val="F4F4F2">
                  <a:alpha val="100000"/>
                </a:srgbClr>
              </a:gs>
              <a:gs pos="26000">
                <a:srgbClr val="F4F4F2">
                  <a:alpha val="100000"/>
                </a:srgbClr>
              </a:gs>
              <a:gs pos="62000">
                <a:srgbClr val="F4F4F2">
                  <a:alpha val="0"/>
                </a:srgbClr>
              </a:gs>
            </a:gsLst>
            <a:lin ang="600000" scaled="0"/>
          </a:gradFill>
          <a:ln/>
        </p:spPr>
      </p:sp>
      <p:sp>
        <p:nvSpPr>
          <p:cNvPr id="23" name="Shape 21"/>
          <p:cNvSpPr/>
          <p:nvPr/>
        </p:nvSpPr>
        <p:spPr>
          <a:xfrm>
            <a:off x="133320" y="-380950"/>
            <a:ext cx="1523925" cy="2762200"/>
          </a:xfrm>
          <a:prstGeom prst="rect">
            <a:avLst/>
          </a:prstGeom>
          <a:gradFill rotWithShape="1">
            <a:gsLst>
              <a:gs pos="0">
                <a:srgbClr val="1F9A66">
                  <a:alpha val="100000"/>
                </a:srgbClr>
              </a:gs>
              <a:gs pos="100000">
                <a:srgbClr val="0B5638">
                  <a:alpha val="100000"/>
                </a:srgbClr>
              </a:gs>
            </a:gsLst>
            <a:lin ang="4500000" scaled="0"/>
          </a:gradFill>
          <a:ln/>
        </p:spPr>
      </p:sp>
      <p:sp>
        <p:nvSpPr>
          <p:cNvPr id="24" name="Shape 22"/>
          <p:cNvSpPr/>
          <p:nvPr/>
        </p:nvSpPr>
        <p:spPr>
          <a:xfrm>
            <a:off x="914355" y="-380950"/>
            <a:ext cx="1200130" cy="2952675"/>
          </a:xfrm>
          <a:prstGeom prst="rect">
            <a:avLst/>
          </a:prstGeom>
          <a:gradFill rotWithShape="1">
            <a:gsLst>
              <a:gs pos="0">
                <a:srgbClr val="D9564F">
                  <a:alpha val="100000"/>
                </a:srgbClr>
              </a:gs>
              <a:gs pos="100000">
                <a:srgbClr val="A82C28">
                  <a:alpha val="100000"/>
                </a:srgbClr>
              </a:gs>
            </a:gsLst>
            <a:lin ang="4500000" scaled="0"/>
          </a:gradFill>
          <a:ln/>
        </p:spPr>
      </p:sp>
      <p:sp>
        <p:nvSpPr>
          <p:cNvPr id="25" name="Shape 23"/>
          <p:cNvSpPr/>
          <p:nvPr/>
        </p:nvSpPr>
        <p:spPr>
          <a:xfrm>
            <a:off x="95175" y="95175"/>
            <a:ext cx="1139848" cy="1139848"/>
          </a:xfrm>
          <a:prstGeom prst="rect">
            <a:avLst/>
          </a:prstGeom>
          <a:ln w="8004">
            <a:solidFill>
              <a:srgbClr val="9FC0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57285" y="3733710"/>
            <a:ext cx="38020" cy="2846369"/>
          </a:xfrm>
          <a:prstGeom prst="rect">
            <a:avLst/>
          </a:prstGeom>
          <a:solidFill>
            <a:srgbClr val="9FC0E0"/>
          </a:solidFill>
          <a:ln/>
        </p:spPr>
      </p:sp>
      <p:sp>
        <p:nvSpPr>
          <p:cNvPr id="27" name="Text 25"/>
          <p:cNvSpPr/>
          <p:nvPr/>
        </p:nvSpPr>
        <p:spPr>
          <a:xfrm>
            <a:off x="1619100" y="3733710"/>
            <a:ext cx="7194476" cy="8762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267"/>
              </a:lnSpc>
              <a:buNone/>
            </a:pPr>
            <a:r>
              <a:rPr lang="en-US" sz="6600" b="1" i="1" kern="0" spc="-132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AdventureWorks</a:t>
            </a:r>
            <a:endParaRPr lang="en-US" sz="6600" dirty="0"/>
          </a:p>
        </p:txBody>
      </p:sp>
      <p:sp>
        <p:nvSpPr>
          <p:cNvPr id="28" name="Text 26"/>
          <p:cNvSpPr/>
          <p:nvPr/>
        </p:nvSpPr>
        <p:spPr>
          <a:xfrm>
            <a:off x="1619100" y="4705220"/>
            <a:ext cx="7194476" cy="65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1140"/>
              </a:lnSpc>
              <a:buNone/>
            </a:pPr>
            <a:r>
              <a:rPr lang="en-US" sz="4650" b="1" i="1" dirty="0">
                <a:solidFill>
                  <a:srgbClr val="8FB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Sales Pipeline</a:t>
            </a:r>
            <a:endParaRPr lang="en-US" sz="4650" dirty="0"/>
          </a:p>
        </p:txBody>
      </p:sp>
      <p:sp>
        <p:nvSpPr>
          <p:cNvPr id="29" name="Text 27"/>
          <p:cNvSpPr/>
          <p:nvPr/>
        </p:nvSpPr>
        <p:spPr>
          <a:xfrm>
            <a:off x="1619100" y="5763400"/>
            <a:ext cx="7194476" cy="3902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312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PROJECT</a:t>
            </a:r>
            <a:endParaRPr lang="en-US" sz="1950" dirty="0"/>
          </a:p>
        </p:txBody>
      </p:sp>
      <p:sp>
        <p:nvSpPr>
          <p:cNvPr id="30" name="Text 28"/>
          <p:cNvSpPr/>
          <p:nvPr/>
        </p:nvSpPr>
        <p:spPr>
          <a:xfrm>
            <a:off x="1619100" y="6267915"/>
            <a:ext cx="7194476" cy="3502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Tools: MySQL · SQL · Power BI · Data Modeling · Business Intelligence</a:t>
            </a:r>
            <a:endParaRPr lang="en-US" sz="17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3320" y="-380950"/>
            <a:ext cx="1333450" cy="2381250"/>
          </a:xfrm>
          <a:prstGeom prst="rect">
            <a:avLst/>
          </a:prstGeom>
          <a:gradFill rotWithShape="1">
            <a:gsLst>
              <a:gs pos="0">
                <a:srgbClr val="1F9A66">
                  <a:alpha val="100000"/>
                </a:srgbClr>
              </a:gs>
              <a:gs pos="100000">
                <a:srgbClr val="0B5638">
                  <a:alpha val="100000"/>
                </a:srgbClr>
              </a:gs>
            </a:gsLst>
            <a:lin ang="4500000" scaled="0"/>
          </a:gradFill>
          <a:ln/>
        </p:spPr>
      </p:sp>
      <p:sp>
        <p:nvSpPr>
          <p:cNvPr id="3" name="Shape 1"/>
          <p:cNvSpPr/>
          <p:nvPr/>
        </p:nvSpPr>
        <p:spPr>
          <a:xfrm>
            <a:off x="819055" y="-380950"/>
            <a:ext cx="1066685" cy="2552590"/>
          </a:xfrm>
          <a:prstGeom prst="rect">
            <a:avLst/>
          </a:prstGeom>
          <a:gradFill rotWithShape="1">
            <a:gsLst>
              <a:gs pos="0">
                <a:srgbClr val="D9564F">
                  <a:alpha val="100000"/>
                </a:srgbClr>
              </a:gs>
              <a:gs pos="100000">
                <a:srgbClr val="A82C28">
                  <a:alpha val="100000"/>
                </a:srgbClr>
              </a:gs>
            </a:gsLst>
            <a:lin ang="4500000" scaled="0"/>
          </a:gradFill>
          <a:ln/>
        </p:spPr>
      </p:sp>
      <p:sp>
        <p:nvSpPr>
          <p:cNvPr id="4" name="Shape 2"/>
          <p:cNvSpPr/>
          <p:nvPr/>
        </p:nvSpPr>
        <p:spPr>
          <a:xfrm>
            <a:off x="95175" y="95175"/>
            <a:ext cx="968508" cy="968508"/>
          </a:xfrm>
          <a:prstGeom prst="rect">
            <a:avLst/>
          </a:prstGeom>
          <a:ln w="8004">
            <a:solidFill>
              <a:srgbClr val="9FC0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621074" y="8191424"/>
            <a:ext cx="2666900" cy="2095475"/>
          </a:xfrm>
          <a:prstGeom prst="rect">
            <a:avLst/>
          </a:prstGeom>
          <a:solidFill>
            <a:srgbClr val="7BA7D6">
              <a:alpha val="4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238044" y="781035"/>
            <a:ext cx="17811887" cy="6304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405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</a:t>
            </a:r>
            <a:r>
              <a:rPr lang="en-US" sz="4050" b="1" dirty="0">
                <a:solidFill>
                  <a:srgbClr val="5B8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endParaRPr lang="en-US" sz="4050" dirty="0"/>
          </a:p>
        </p:txBody>
      </p:sp>
      <p:sp>
        <p:nvSpPr>
          <p:cNvPr id="7" name="Text 5"/>
          <p:cNvSpPr/>
          <p:nvPr/>
        </p:nvSpPr>
        <p:spPr>
          <a:xfrm>
            <a:off x="238044" y="1449511"/>
            <a:ext cx="17811887" cy="3582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built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47675" y="2264939"/>
            <a:ext cx="8627173" cy="8175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257"/>
              </a:lnSpc>
              <a:buNone/>
            </a:pPr>
            <a:r>
              <a:rPr lang="en-US" sz="2025" dirty="0">
                <a:solidFill>
                  <a:srgbClr val="3B46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Analyzed </a:t>
            </a:r>
            <a:r>
              <a:rPr lang="en-US" sz="2025" b="1" dirty="0">
                <a:solidFill>
                  <a:srgbClr val="178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reseller sales orders </a:t>
            </a:r>
            <a:r>
              <a:rPr lang="en-US" sz="2025" dirty="0">
                <a:solidFill>
                  <a:srgbClr val="3B46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632 unique resellers and 17 salespersons in 10 global territories.</a:t>
            </a:r>
            <a:endParaRPr lang="en-US" sz="2025" dirty="0"/>
          </a:p>
        </p:txBody>
      </p:sp>
      <p:sp>
        <p:nvSpPr>
          <p:cNvPr id="9" name="Shape 7"/>
          <p:cNvSpPr/>
          <p:nvPr/>
        </p:nvSpPr>
        <p:spPr>
          <a:xfrm>
            <a:off x="1047675" y="3291978"/>
            <a:ext cx="32017" cy="807924"/>
          </a:xfrm>
          <a:prstGeom prst="rect">
            <a:avLst/>
          </a:prstGeom>
          <a:solidFill>
            <a:srgbClr val="9FC0E0"/>
          </a:solidFill>
          <a:ln/>
        </p:spPr>
      </p:sp>
      <p:sp>
        <p:nvSpPr>
          <p:cNvPr id="10" name="Text 8"/>
          <p:cNvSpPr/>
          <p:nvPr/>
        </p:nvSpPr>
        <p:spPr>
          <a:xfrm>
            <a:off x="1308187" y="3349008"/>
            <a:ext cx="8358846" cy="7319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9818"/>
              </a:lnSpc>
              <a:buNone/>
            </a:pPr>
            <a:r>
              <a:rPr lang="en-US" sz="180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 </a:t>
            </a:r>
            <a:r>
              <a:rPr lang="en-US" sz="180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which territories are underperforming and whether the gap is driven by reseller coverage, salesperson quality, or product-category fit.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047675" y="4347532"/>
            <a:ext cx="32017" cy="464994"/>
          </a:xfrm>
          <a:prstGeom prst="rect">
            <a:avLst/>
          </a:prstGeom>
          <a:solidFill>
            <a:srgbClr val="9FC0E0"/>
          </a:solidFill>
          <a:ln/>
        </p:spPr>
      </p:sp>
      <p:sp>
        <p:nvSpPr>
          <p:cNvPr id="12" name="Text 10"/>
          <p:cNvSpPr/>
          <p:nvPr/>
        </p:nvSpPr>
        <p:spPr>
          <a:xfrm>
            <a:off x="1308187" y="4404562"/>
            <a:ext cx="8926923" cy="3890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9818"/>
              </a:lnSpc>
              <a:buNone/>
            </a:pPr>
            <a:r>
              <a:rPr lang="en-US" sz="180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Scope: </a:t>
            </a:r>
            <a:r>
              <a:rPr lang="en-US" sz="180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Accessories, Bikes, Clothing, and Components across 2017–2020.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047675" y="8813000"/>
            <a:ext cx="8375896" cy="769154"/>
          </a:xfrm>
          <a:prstGeom prst="rect">
            <a:avLst/>
          </a:prstGeom>
          <a:solidFill>
            <a:srgbClr val="FFFFFF"/>
          </a:solidFill>
          <a:ln w="8004">
            <a:solidFill>
              <a:srgbClr val="E2E2D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41329" y="9073512"/>
            <a:ext cx="507176" cy="2862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178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943645" y="9049500"/>
            <a:ext cx="285810" cy="334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9FC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2324595" y="9073512"/>
            <a:ext cx="774942" cy="2862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3194677" y="9049500"/>
            <a:ext cx="285810" cy="334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9FC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3575627" y="9049500"/>
            <a:ext cx="1091573" cy="3102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View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667200" y="9049500"/>
            <a:ext cx="285810" cy="334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9FC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5048149" y="9073512"/>
            <a:ext cx="2127004" cy="2862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5B8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BI Dashboard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9956852" y="2264939"/>
            <a:ext cx="7283323" cy="124978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9956852" y="3506716"/>
            <a:ext cx="7283323" cy="9525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23" name="Shape 21"/>
          <p:cNvSpPr/>
          <p:nvPr/>
        </p:nvSpPr>
        <p:spPr>
          <a:xfrm>
            <a:off x="9956852" y="2264939"/>
            <a:ext cx="7283323" cy="32017"/>
          </a:xfrm>
          <a:prstGeom prst="rect">
            <a:avLst/>
          </a:prstGeom>
          <a:solidFill>
            <a:srgbClr val="17835A"/>
          </a:solidFill>
          <a:ln/>
        </p:spPr>
      </p:sp>
      <p:sp>
        <p:nvSpPr>
          <p:cNvPr id="24" name="Shape 22"/>
          <p:cNvSpPr/>
          <p:nvPr/>
        </p:nvSpPr>
        <p:spPr>
          <a:xfrm>
            <a:off x="9956852" y="2264939"/>
            <a:ext cx="9525" cy="1249781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25" name="Shape 23"/>
          <p:cNvSpPr/>
          <p:nvPr/>
        </p:nvSpPr>
        <p:spPr>
          <a:xfrm>
            <a:off x="17232170" y="2264939"/>
            <a:ext cx="9525" cy="1249781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26" name="Text 24"/>
          <p:cNvSpPr/>
          <p:nvPr/>
        </p:nvSpPr>
        <p:spPr>
          <a:xfrm>
            <a:off x="10269641" y="2563596"/>
            <a:ext cx="7323519" cy="342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 + Workbench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10269641" y="2943920"/>
            <a:ext cx="7323519" cy="334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hosting, cleaning queries, view creation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9956852" y="3724205"/>
            <a:ext cx="7283323" cy="124978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9956852" y="4965981"/>
            <a:ext cx="7283323" cy="9525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30" name="Shape 28"/>
          <p:cNvSpPr/>
          <p:nvPr/>
        </p:nvSpPr>
        <p:spPr>
          <a:xfrm>
            <a:off x="9956852" y="3724205"/>
            <a:ext cx="7283323" cy="32017"/>
          </a:xfrm>
          <a:prstGeom prst="rect">
            <a:avLst/>
          </a:prstGeom>
          <a:solidFill>
            <a:srgbClr val="C43B3B"/>
          </a:solidFill>
          <a:ln/>
        </p:spPr>
      </p:sp>
      <p:sp>
        <p:nvSpPr>
          <p:cNvPr id="31" name="Shape 29"/>
          <p:cNvSpPr/>
          <p:nvPr/>
        </p:nvSpPr>
        <p:spPr>
          <a:xfrm>
            <a:off x="9956852" y="3724205"/>
            <a:ext cx="9525" cy="1249781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32" name="Shape 30"/>
          <p:cNvSpPr/>
          <p:nvPr/>
        </p:nvSpPr>
        <p:spPr>
          <a:xfrm>
            <a:off x="17232170" y="3724205"/>
            <a:ext cx="9525" cy="1249781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33" name="Text 31"/>
          <p:cNvSpPr/>
          <p:nvPr/>
        </p:nvSpPr>
        <p:spPr>
          <a:xfrm>
            <a:off x="10269641" y="4022861"/>
            <a:ext cx="7323519" cy="342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10269641" y="4403186"/>
            <a:ext cx="7323519" cy="334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inspection, transformation, view architecture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9956852" y="5183471"/>
            <a:ext cx="7283323" cy="124978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9956852" y="6425248"/>
            <a:ext cx="7283323" cy="9525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37" name="Shape 35"/>
          <p:cNvSpPr/>
          <p:nvPr/>
        </p:nvSpPr>
        <p:spPr>
          <a:xfrm>
            <a:off x="9956852" y="5183471"/>
            <a:ext cx="7283323" cy="32017"/>
          </a:xfrm>
          <a:prstGeom prst="rect">
            <a:avLst/>
          </a:prstGeom>
          <a:solidFill>
            <a:srgbClr val="5B8CC4"/>
          </a:solidFill>
          <a:ln/>
        </p:spPr>
      </p:sp>
      <p:sp>
        <p:nvSpPr>
          <p:cNvPr id="38" name="Shape 36"/>
          <p:cNvSpPr/>
          <p:nvPr/>
        </p:nvSpPr>
        <p:spPr>
          <a:xfrm>
            <a:off x="9956852" y="5183471"/>
            <a:ext cx="9525" cy="1249781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39" name="Shape 37"/>
          <p:cNvSpPr/>
          <p:nvPr/>
        </p:nvSpPr>
        <p:spPr>
          <a:xfrm>
            <a:off x="17232170" y="5183471"/>
            <a:ext cx="9525" cy="1249781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40" name="Text 38"/>
          <p:cNvSpPr/>
          <p:nvPr/>
        </p:nvSpPr>
        <p:spPr>
          <a:xfrm>
            <a:off x="10269641" y="5482128"/>
            <a:ext cx="7323519" cy="342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BI</a:t>
            </a:r>
            <a:endParaRPr lang="en-US" sz="2100" dirty="0"/>
          </a:p>
        </p:txBody>
      </p:sp>
      <p:sp>
        <p:nvSpPr>
          <p:cNvPr id="41" name="Text 39"/>
          <p:cNvSpPr/>
          <p:nvPr/>
        </p:nvSpPr>
        <p:spPr>
          <a:xfrm>
            <a:off x="10269641" y="5862452"/>
            <a:ext cx="7323519" cy="334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connection, DAX measures, 3-page dashboard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90475" y="-476250"/>
            <a:ext cx="2000175" cy="3810000"/>
          </a:xfrm>
          <a:prstGeom prst="rect">
            <a:avLst/>
          </a:prstGeom>
          <a:gradFill rotWithShape="1">
            <a:gsLst>
              <a:gs pos="0">
                <a:srgbClr val="1F9A66">
                  <a:alpha val="100000"/>
                </a:srgbClr>
              </a:gs>
              <a:gs pos="100000">
                <a:srgbClr val="0B5638">
                  <a:alpha val="100000"/>
                </a:srgbClr>
              </a:gs>
            </a:gsLst>
            <a:lin ang="4500000" scaled="0"/>
          </a:gradFill>
          <a:ln/>
        </p:spPr>
      </p:sp>
      <p:sp>
        <p:nvSpPr>
          <p:cNvPr id="3" name="Shape 1"/>
          <p:cNvSpPr/>
          <p:nvPr/>
        </p:nvSpPr>
        <p:spPr>
          <a:xfrm>
            <a:off x="1219140" y="-476250"/>
            <a:ext cx="1571575" cy="4095650"/>
          </a:xfrm>
          <a:prstGeom prst="rect">
            <a:avLst/>
          </a:prstGeom>
          <a:gradFill rotWithShape="1">
            <a:gsLst>
              <a:gs pos="0">
                <a:srgbClr val="D9564F">
                  <a:alpha val="100000"/>
                </a:srgbClr>
              </a:gs>
              <a:gs pos="100000">
                <a:srgbClr val="A82C28">
                  <a:alpha val="100000"/>
                </a:srgbClr>
              </a:gs>
            </a:gsLst>
            <a:lin ang="4500000" scaled="0"/>
          </a:gradFill>
          <a:ln/>
        </p:spPr>
      </p:sp>
      <p:sp>
        <p:nvSpPr>
          <p:cNvPr id="4" name="Shape 2"/>
          <p:cNvSpPr/>
          <p:nvPr/>
        </p:nvSpPr>
        <p:spPr>
          <a:xfrm>
            <a:off x="114185" y="114185"/>
            <a:ext cx="1444758" cy="1444758"/>
          </a:xfrm>
          <a:prstGeom prst="rect">
            <a:avLst/>
          </a:prstGeom>
          <a:ln w="8004">
            <a:solidFill>
              <a:srgbClr val="9FC0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287499" y="7048449"/>
            <a:ext cx="4000475" cy="3238450"/>
          </a:xfrm>
          <a:prstGeom prst="rect">
            <a:avLst/>
          </a:prstGeom>
          <a:solidFill>
            <a:srgbClr val="7BA7D6">
              <a:alpha val="4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2762200" y="3810000"/>
            <a:ext cx="12572999" cy="30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360" dirty="0">
                <a:solidFill>
                  <a:srgbClr val="178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762200" y="4264614"/>
            <a:ext cx="12572999" cy="9707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8950"/>
              </a:lnSpc>
              <a:buNone/>
            </a:pPr>
            <a:r>
              <a:rPr lang="en-US" sz="720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Cleaning</a:t>
            </a:r>
            <a:endParaRPr lang="en-US" sz="7200" dirty="0"/>
          </a:p>
        </p:txBody>
      </p:sp>
      <p:sp>
        <p:nvSpPr>
          <p:cNvPr id="8" name="Text 6"/>
          <p:cNvSpPr/>
          <p:nvPr/>
        </p:nvSpPr>
        <p:spPr>
          <a:xfrm>
            <a:off x="2762200" y="5197228"/>
            <a:ext cx="12572999" cy="9707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8950"/>
              </a:lnSpc>
              <a:buNone/>
            </a:pPr>
            <a:r>
              <a:rPr lang="en-US" sz="7200" b="1" dirty="0">
                <a:solidFill>
                  <a:srgbClr val="8FB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Preparation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2762200" y="6453637"/>
            <a:ext cx="12572999" cy="4142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a trustworthy foundation before any analysis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185" y="-380950"/>
            <a:ext cx="1219140" cy="2190650"/>
          </a:xfrm>
          <a:prstGeom prst="rect">
            <a:avLst/>
          </a:prstGeom>
          <a:gradFill rotWithShape="1">
            <a:gsLst>
              <a:gs pos="0">
                <a:srgbClr val="1F9A66">
                  <a:alpha val="100000"/>
                </a:srgbClr>
              </a:gs>
              <a:gs pos="100000">
                <a:srgbClr val="0B5638">
                  <a:alpha val="100000"/>
                </a:srgbClr>
              </a:gs>
            </a:gsLst>
            <a:lin ang="4500000" scaled="0"/>
          </a:gradFill>
          <a:ln/>
        </p:spPr>
      </p:sp>
      <p:sp>
        <p:nvSpPr>
          <p:cNvPr id="3" name="Shape 1"/>
          <p:cNvSpPr/>
          <p:nvPr/>
        </p:nvSpPr>
        <p:spPr>
          <a:xfrm>
            <a:off x="742890" y="-380950"/>
            <a:ext cx="990520" cy="2362115"/>
          </a:xfrm>
          <a:prstGeom prst="rect">
            <a:avLst/>
          </a:prstGeom>
          <a:gradFill rotWithShape="1">
            <a:gsLst>
              <a:gs pos="0">
                <a:srgbClr val="D9564F">
                  <a:alpha val="100000"/>
                </a:srgbClr>
              </a:gs>
              <a:gs pos="100000">
                <a:srgbClr val="A82C28">
                  <a:alpha val="100000"/>
                </a:srgbClr>
              </a:gs>
            </a:gsLst>
            <a:lin ang="4500000" scaled="0"/>
          </a:gradFill>
          <a:ln/>
        </p:spPr>
      </p:sp>
      <p:sp>
        <p:nvSpPr>
          <p:cNvPr id="4" name="Text 2"/>
          <p:cNvSpPr/>
          <p:nvPr/>
        </p:nvSpPr>
        <p:spPr>
          <a:xfrm>
            <a:off x="91392" y="742890"/>
            <a:ext cx="18105190" cy="5903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375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Cleaning — </a:t>
            </a:r>
            <a:r>
              <a:rPr lang="en-US" sz="3750" b="1" dirty="0">
                <a:solidFill>
                  <a:srgbClr val="5B8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Checked &amp; Why It Matters</a:t>
            </a:r>
            <a:endParaRPr lang="en-US" sz="3750" dirty="0"/>
          </a:p>
        </p:txBody>
      </p:sp>
      <p:sp>
        <p:nvSpPr>
          <p:cNvPr id="5" name="Text 3"/>
          <p:cNvSpPr/>
          <p:nvPr/>
        </p:nvSpPr>
        <p:spPr>
          <a:xfrm>
            <a:off x="2038070" y="1676130"/>
            <a:ext cx="3562295" cy="246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b="1" kern="0" spc="200" dirty="0">
                <a:solidFill>
                  <a:srgbClr val="9AA3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5505015" y="1676130"/>
            <a:ext cx="6244953" cy="246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b="1" kern="0" spc="200" dirty="0">
                <a:solidFill>
                  <a:srgbClr val="9AA3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FOUND</a:t>
            </a:r>
            <a:endParaRPr lang="en-US" sz="1425" dirty="0"/>
          </a:p>
        </p:txBody>
      </p:sp>
      <p:sp>
        <p:nvSpPr>
          <p:cNvPr id="7" name="Text 5"/>
          <p:cNvSpPr/>
          <p:nvPr/>
        </p:nvSpPr>
        <p:spPr>
          <a:xfrm>
            <a:off x="11410740" y="1676130"/>
            <a:ext cx="6244953" cy="246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b="1" kern="0" spc="200" dirty="0">
                <a:solidFill>
                  <a:srgbClr val="9AA3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TAKEN</a:t>
            </a:r>
            <a:endParaRPr lang="en-US" sz="1425" dirty="0"/>
          </a:p>
        </p:txBody>
      </p:sp>
      <p:sp>
        <p:nvSpPr>
          <p:cNvPr id="8" name="Shape 6"/>
          <p:cNvSpPr/>
          <p:nvPr/>
        </p:nvSpPr>
        <p:spPr>
          <a:xfrm>
            <a:off x="914355" y="2112734"/>
            <a:ext cx="16459264" cy="8191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914355" y="2923910"/>
            <a:ext cx="16459264" cy="9525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10" name="Shape 8"/>
          <p:cNvSpPr/>
          <p:nvPr/>
        </p:nvSpPr>
        <p:spPr>
          <a:xfrm>
            <a:off x="914355" y="2112734"/>
            <a:ext cx="16459264" cy="9525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11" name="Shape 9"/>
          <p:cNvSpPr/>
          <p:nvPr/>
        </p:nvSpPr>
        <p:spPr>
          <a:xfrm>
            <a:off x="914355" y="2112734"/>
            <a:ext cx="40021" cy="819180"/>
          </a:xfrm>
          <a:prstGeom prst="rect">
            <a:avLst/>
          </a:prstGeom>
          <a:solidFill>
            <a:srgbClr val="1783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7365615" y="2112734"/>
            <a:ext cx="9525" cy="819180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13" name="Text 11"/>
          <p:cNvSpPr/>
          <p:nvPr/>
        </p:nvSpPr>
        <p:spPr>
          <a:xfrm>
            <a:off x="1240026" y="2330223"/>
            <a:ext cx="685770" cy="4223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178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2078091" y="2386252"/>
            <a:ext cx="3562295" cy="310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 Count &amp; Null Checks</a:t>
            </a:r>
            <a:endParaRPr lang="en-US" sz="1875" dirty="0"/>
          </a:p>
        </p:txBody>
      </p:sp>
      <p:sp>
        <p:nvSpPr>
          <p:cNvPr id="15" name="Text 13"/>
          <p:cNvSpPr/>
          <p:nvPr/>
        </p:nvSpPr>
        <p:spPr>
          <a:xfrm>
            <a:off x="5545035" y="2374246"/>
            <a:ext cx="6218539" cy="334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nulls across all key columns in sales, product, reseller tables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1426748" y="2374246"/>
            <a:ext cx="6218539" cy="334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action needed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914355" y="3065234"/>
            <a:ext cx="16459264" cy="102728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914355" y="4084519"/>
            <a:ext cx="16459264" cy="9525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19" name="Shape 17"/>
          <p:cNvSpPr/>
          <p:nvPr/>
        </p:nvSpPr>
        <p:spPr>
          <a:xfrm>
            <a:off x="914355" y="3065234"/>
            <a:ext cx="16459264" cy="9525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20" name="Shape 18"/>
          <p:cNvSpPr/>
          <p:nvPr/>
        </p:nvSpPr>
        <p:spPr>
          <a:xfrm>
            <a:off x="914355" y="3065234"/>
            <a:ext cx="40021" cy="1027289"/>
          </a:xfrm>
          <a:prstGeom prst="rect">
            <a:avLst/>
          </a:prstGeom>
          <a:solidFill>
            <a:srgbClr val="17835A"/>
          </a:solidFill>
          <a:ln/>
        </p:spPr>
      </p:sp>
      <p:sp>
        <p:nvSpPr>
          <p:cNvPr id="21" name="Shape 19"/>
          <p:cNvSpPr/>
          <p:nvPr/>
        </p:nvSpPr>
        <p:spPr>
          <a:xfrm>
            <a:off x="17365615" y="3065234"/>
            <a:ext cx="9525" cy="1027289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22" name="Text 20"/>
          <p:cNvSpPr/>
          <p:nvPr/>
        </p:nvSpPr>
        <p:spPr>
          <a:xfrm>
            <a:off x="1240026" y="3386778"/>
            <a:ext cx="685770" cy="4223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178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2078091" y="3442807"/>
            <a:ext cx="3562295" cy="310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Order Numbers</a:t>
            </a:r>
            <a:endParaRPr lang="en-US" sz="1875" dirty="0"/>
          </a:p>
        </p:txBody>
      </p:sp>
      <p:sp>
        <p:nvSpPr>
          <p:cNvPr id="24" name="Text 22"/>
          <p:cNvSpPr/>
          <p:nvPr/>
        </p:nvSpPr>
        <p:spPr>
          <a:xfrm>
            <a:off x="5545035" y="3282723"/>
            <a:ext cx="5822814" cy="6304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rows per order number — investigated as multi-line orders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1426748" y="3430801"/>
            <a:ext cx="6218539" cy="334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Retained — legitimate one order, multiple products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914355" y="4225843"/>
            <a:ext cx="16459264" cy="8191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Shape 25"/>
          <p:cNvSpPr/>
          <p:nvPr/>
        </p:nvSpPr>
        <p:spPr>
          <a:xfrm>
            <a:off x="914355" y="5037019"/>
            <a:ext cx="16459264" cy="9525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28" name="Shape 26"/>
          <p:cNvSpPr/>
          <p:nvPr/>
        </p:nvSpPr>
        <p:spPr>
          <a:xfrm>
            <a:off x="914355" y="4225843"/>
            <a:ext cx="16459264" cy="9525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29" name="Shape 27"/>
          <p:cNvSpPr/>
          <p:nvPr/>
        </p:nvSpPr>
        <p:spPr>
          <a:xfrm>
            <a:off x="914355" y="4225843"/>
            <a:ext cx="40021" cy="819180"/>
          </a:xfrm>
          <a:prstGeom prst="rect">
            <a:avLst/>
          </a:prstGeom>
          <a:solidFill>
            <a:srgbClr val="C43B3B"/>
          </a:solidFill>
          <a:ln/>
        </p:spPr>
      </p:sp>
      <p:sp>
        <p:nvSpPr>
          <p:cNvPr id="30" name="Shape 28"/>
          <p:cNvSpPr/>
          <p:nvPr/>
        </p:nvSpPr>
        <p:spPr>
          <a:xfrm>
            <a:off x="17365615" y="4225843"/>
            <a:ext cx="9525" cy="819180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31" name="Text 29"/>
          <p:cNvSpPr/>
          <p:nvPr/>
        </p:nvSpPr>
        <p:spPr>
          <a:xfrm>
            <a:off x="1240026" y="4443332"/>
            <a:ext cx="685770" cy="4223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4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</a:t>
            </a:r>
            <a:endParaRPr lang="en-US" sz="2250" dirty="0"/>
          </a:p>
        </p:txBody>
      </p:sp>
      <p:sp>
        <p:nvSpPr>
          <p:cNvPr id="32" name="Text 30"/>
          <p:cNvSpPr/>
          <p:nvPr/>
        </p:nvSpPr>
        <p:spPr>
          <a:xfrm>
            <a:off x="2078091" y="4499362"/>
            <a:ext cx="3562295" cy="310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OrderDate Format</a:t>
            </a:r>
            <a:endParaRPr lang="en-US" sz="1875" dirty="0"/>
          </a:p>
        </p:txBody>
      </p:sp>
      <p:sp>
        <p:nvSpPr>
          <p:cNvPr id="33" name="Text 31"/>
          <p:cNvSpPr/>
          <p:nvPr/>
        </p:nvSpPr>
        <p:spPr>
          <a:xfrm>
            <a:off x="5545035" y="4487355"/>
            <a:ext cx="6218539" cy="334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Stored as full text — “Friday, August 25, 2017”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11426748" y="4487355"/>
            <a:ext cx="6218539" cy="334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Parsed to DATE using </a:t>
            </a:r>
            <a:r>
              <a:rPr lang="en-US" sz="1500" dirty="0">
                <a:solidFill>
                  <a:srgbClr val="1783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STR_TO_DATE </a:t>
            </a:r>
            <a:r>
              <a:rPr lang="en-US" sz="165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%W, %M %d, %Y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914355" y="5178343"/>
            <a:ext cx="16459264" cy="8191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914355" y="5989519"/>
            <a:ext cx="16459264" cy="9525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37" name="Shape 35"/>
          <p:cNvSpPr/>
          <p:nvPr/>
        </p:nvSpPr>
        <p:spPr>
          <a:xfrm>
            <a:off x="914355" y="5178343"/>
            <a:ext cx="16459264" cy="9525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38" name="Shape 36"/>
          <p:cNvSpPr/>
          <p:nvPr/>
        </p:nvSpPr>
        <p:spPr>
          <a:xfrm>
            <a:off x="914355" y="5178343"/>
            <a:ext cx="40021" cy="819180"/>
          </a:xfrm>
          <a:prstGeom prst="rect">
            <a:avLst/>
          </a:prstGeom>
          <a:solidFill>
            <a:srgbClr val="17835A"/>
          </a:solidFill>
          <a:ln/>
        </p:spPr>
      </p:sp>
      <p:sp>
        <p:nvSpPr>
          <p:cNvPr id="39" name="Shape 37"/>
          <p:cNvSpPr/>
          <p:nvPr/>
        </p:nvSpPr>
        <p:spPr>
          <a:xfrm>
            <a:off x="17365615" y="5178343"/>
            <a:ext cx="9525" cy="819180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40" name="Text 38"/>
          <p:cNvSpPr/>
          <p:nvPr/>
        </p:nvSpPr>
        <p:spPr>
          <a:xfrm>
            <a:off x="1240026" y="5395832"/>
            <a:ext cx="685770" cy="4223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178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250" dirty="0"/>
          </a:p>
        </p:txBody>
      </p:sp>
      <p:sp>
        <p:nvSpPr>
          <p:cNvPr id="41" name="Text 39"/>
          <p:cNvSpPr/>
          <p:nvPr/>
        </p:nvSpPr>
        <p:spPr>
          <a:xfrm>
            <a:off x="2078091" y="5451861"/>
            <a:ext cx="3562295" cy="310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Whitespace — All Tables</a:t>
            </a:r>
            <a:endParaRPr lang="en-US" sz="1875" dirty="0"/>
          </a:p>
        </p:txBody>
      </p:sp>
      <p:sp>
        <p:nvSpPr>
          <p:cNvPr id="42" name="Text 40"/>
          <p:cNvSpPr/>
          <p:nvPr/>
        </p:nvSpPr>
        <p:spPr>
          <a:xfrm>
            <a:off x="5545035" y="5439855"/>
            <a:ext cx="6218539" cy="334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Potential leading/trailing spaces in product, reseller, salesperson</a:t>
            </a:r>
            <a:endParaRPr lang="en-US" sz="1650" dirty="0"/>
          </a:p>
        </p:txBody>
      </p:sp>
      <p:sp>
        <p:nvSpPr>
          <p:cNvPr id="43" name="Text 41"/>
          <p:cNvSpPr/>
          <p:nvPr/>
        </p:nvSpPr>
        <p:spPr>
          <a:xfrm>
            <a:off x="11426748" y="5439855"/>
            <a:ext cx="6218539" cy="334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783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TRIM </a:t>
            </a:r>
            <a:r>
              <a:rPr lang="en-US" sz="165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applied to all text columns across 3 tables</a:t>
            </a:r>
            <a:endParaRPr lang="en-US" sz="1650" dirty="0"/>
          </a:p>
        </p:txBody>
      </p:sp>
      <p:sp>
        <p:nvSpPr>
          <p:cNvPr id="44" name="Shape 42"/>
          <p:cNvSpPr/>
          <p:nvPr/>
        </p:nvSpPr>
        <p:spPr>
          <a:xfrm>
            <a:off x="914355" y="6130843"/>
            <a:ext cx="16459264" cy="8191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Shape 43"/>
          <p:cNvSpPr/>
          <p:nvPr/>
        </p:nvSpPr>
        <p:spPr>
          <a:xfrm>
            <a:off x="914355" y="6942018"/>
            <a:ext cx="16459264" cy="9525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46" name="Shape 44"/>
          <p:cNvSpPr/>
          <p:nvPr/>
        </p:nvSpPr>
        <p:spPr>
          <a:xfrm>
            <a:off x="914355" y="6130843"/>
            <a:ext cx="16459264" cy="9525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47" name="Shape 45"/>
          <p:cNvSpPr/>
          <p:nvPr/>
        </p:nvSpPr>
        <p:spPr>
          <a:xfrm>
            <a:off x="914355" y="6130843"/>
            <a:ext cx="40021" cy="819180"/>
          </a:xfrm>
          <a:prstGeom prst="rect">
            <a:avLst/>
          </a:prstGeom>
          <a:solidFill>
            <a:srgbClr val="C43B3B"/>
          </a:solidFill>
          <a:ln/>
        </p:spPr>
      </p:sp>
      <p:sp>
        <p:nvSpPr>
          <p:cNvPr id="48" name="Shape 46"/>
          <p:cNvSpPr/>
          <p:nvPr/>
        </p:nvSpPr>
        <p:spPr>
          <a:xfrm>
            <a:off x="17365615" y="6130843"/>
            <a:ext cx="9525" cy="819180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49" name="Text 47"/>
          <p:cNvSpPr/>
          <p:nvPr/>
        </p:nvSpPr>
        <p:spPr>
          <a:xfrm>
            <a:off x="1240026" y="6348332"/>
            <a:ext cx="685770" cy="4223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4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</a:t>
            </a:r>
            <a:endParaRPr lang="en-US" sz="2250" dirty="0"/>
          </a:p>
        </p:txBody>
      </p:sp>
      <p:sp>
        <p:nvSpPr>
          <p:cNvPr id="50" name="Text 48"/>
          <p:cNvSpPr/>
          <p:nvPr/>
        </p:nvSpPr>
        <p:spPr>
          <a:xfrm>
            <a:off x="2078091" y="6404361"/>
            <a:ext cx="3562295" cy="310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Currency Formatting</a:t>
            </a:r>
            <a:endParaRPr lang="en-US" sz="1875" dirty="0"/>
          </a:p>
        </p:txBody>
      </p:sp>
      <p:sp>
        <p:nvSpPr>
          <p:cNvPr id="51" name="Text 49"/>
          <p:cNvSpPr/>
          <p:nvPr/>
        </p:nvSpPr>
        <p:spPr>
          <a:xfrm>
            <a:off x="5545035" y="6392355"/>
            <a:ext cx="6218539" cy="334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StandardCost stored with $ and , characters</a:t>
            </a:r>
            <a:endParaRPr lang="en-US" sz="1650" dirty="0"/>
          </a:p>
        </p:txBody>
      </p:sp>
      <p:sp>
        <p:nvSpPr>
          <p:cNvPr id="52" name="Text 50"/>
          <p:cNvSpPr/>
          <p:nvPr/>
        </p:nvSpPr>
        <p:spPr>
          <a:xfrm>
            <a:off x="11426748" y="6392355"/>
            <a:ext cx="6218539" cy="334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Stripped using </a:t>
            </a:r>
            <a:r>
              <a:rPr lang="en-US" sz="1500" dirty="0">
                <a:solidFill>
                  <a:srgbClr val="1783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REPLACE </a:t>
            </a:r>
            <a:r>
              <a:rPr lang="en-US" sz="165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numeric use</a:t>
            </a:r>
            <a:endParaRPr lang="en-US" sz="1650" dirty="0"/>
          </a:p>
        </p:txBody>
      </p:sp>
      <p:sp>
        <p:nvSpPr>
          <p:cNvPr id="53" name="Shape 51"/>
          <p:cNvSpPr/>
          <p:nvPr/>
        </p:nvSpPr>
        <p:spPr>
          <a:xfrm>
            <a:off x="914355" y="7083343"/>
            <a:ext cx="16459264" cy="8191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Shape 52"/>
          <p:cNvSpPr/>
          <p:nvPr/>
        </p:nvSpPr>
        <p:spPr>
          <a:xfrm>
            <a:off x="914355" y="7894518"/>
            <a:ext cx="16459264" cy="9525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55" name="Shape 53"/>
          <p:cNvSpPr/>
          <p:nvPr/>
        </p:nvSpPr>
        <p:spPr>
          <a:xfrm>
            <a:off x="914355" y="7083343"/>
            <a:ext cx="16459264" cy="9525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56" name="Shape 54"/>
          <p:cNvSpPr/>
          <p:nvPr/>
        </p:nvSpPr>
        <p:spPr>
          <a:xfrm>
            <a:off x="914355" y="7083343"/>
            <a:ext cx="40021" cy="819180"/>
          </a:xfrm>
          <a:prstGeom prst="rect">
            <a:avLst/>
          </a:prstGeom>
          <a:solidFill>
            <a:srgbClr val="C43B3B"/>
          </a:solidFill>
          <a:ln/>
        </p:spPr>
      </p:sp>
      <p:sp>
        <p:nvSpPr>
          <p:cNvPr id="57" name="Shape 55"/>
          <p:cNvSpPr/>
          <p:nvPr/>
        </p:nvSpPr>
        <p:spPr>
          <a:xfrm>
            <a:off x="17365615" y="7083343"/>
            <a:ext cx="9525" cy="819180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58" name="Text 56"/>
          <p:cNvSpPr/>
          <p:nvPr/>
        </p:nvSpPr>
        <p:spPr>
          <a:xfrm>
            <a:off x="1240026" y="7300832"/>
            <a:ext cx="685770" cy="4223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4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</a:t>
            </a:r>
            <a:endParaRPr lang="en-US" sz="2250" dirty="0"/>
          </a:p>
        </p:txBody>
      </p:sp>
      <p:sp>
        <p:nvSpPr>
          <p:cNvPr id="59" name="Text 57"/>
          <p:cNvSpPr/>
          <p:nvPr/>
        </p:nvSpPr>
        <p:spPr>
          <a:xfrm>
            <a:off x="2078091" y="7356861"/>
            <a:ext cx="3562295" cy="310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Character Encoding</a:t>
            </a:r>
            <a:endParaRPr lang="en-US" sz="1875" dirty="0"/>
          </a:p>
        </p:txBody>
      </p:sp>
      <p:sp>
        <p:nvSpPr>
          <p:cNvPr id="60" name="Text 58"/>
          <p:cNvSpPr/>
          <p:nvPr/>
        </p:nvSpPr>
        <p:spPr>
          <a:xfrm>
            <a:off x="5545035" y="7344855"/>
            <a:ext cx="6218539" cy="334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José Saraiva stored as JosÃ© Saraiva in salesperson table</a:t>
            </a:r>
            <a:endParaRPr lang="en-US" sz="1650" dirty="0"/>
          </a:p>
        </p:txBody>
      </p:sp>
      <p:sp>
        <p:nvSpPr>
          <p:cNvPr id="61" name="Text 59"/>
          <p:cNvSpPr/>
          <p:nvPr/>
        </p:nvSpPr>
        <p:spPr>
          <a:xfrm>
            <a:off x="11426748" y="7344855"/>
            <a:ext cx="6218539" cy="334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with targeted </a:t>
            </a:r>
            <a:r>
              <a:rPr lang="en-US" sz="1500" dirty="0">
                <a:solidFill>
                  <a:srgbClr val="1783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 </a:t>
            </a:r>
            <a:r>
              <a:rPr lang="en-US" sz="165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LIKE pattern match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90475" y="-476250"/>
            <a:ext cx="2000175" cy="3810000"/>
          </a:xfrm>
          <a:prstGeom prst="rect">
            <a:avLst/>
          </a:prstGeom>
          <a:gradFill rotWithShape="1">
            <a:gsLst>
              <a:gs pos="0">
                <a:srgbClr val="1F9A66">
                  <a:alpha val="100000"/>
                </a:srgbClr>
              </a:gs>
              <a:gs pos="100000">
                <a:srgbClr val="0B5638">
                  <a:alpha val="100000"/>
                </a:srgbClr>
              </a:gs>
            </a:gsLst>
            <a:lin ang="4500000" scaled="0"/>
          </a:gradFill>
          <a:ln/>
        </p:spPr>
      </p:sp>
      <p:sp>
        <p:nvSpPr>
          <p:cNvPr id="3" name="Shape 1"/>
          <p:cNvSpPr/>
          <p:nvPr/>
        </p:nvSpPr>
        <p:spPr>
          <a:xfrm>
            <a:off x="1219140" y="-476250"/>
            <a:ext cx="1571575" cy="4095650"/>
          </a:xfrm>
          <a:prstGeom prst="rect">
            <a:avLst/>
          </a:prstGeom>
          <a:gradFill rotWithShape="1">
            <a:gsLst>
              <a:gs pos="0">
                <a:srgbClr val="D9564F">
                  <a:alpha val="100000"/>
                </a:srgbClr>
              </a:gs>
              <a:gs pos="100000">
                <a:srgbClr val="A82C28">
                  <a:alpha val="100000"/>
                </a:srgbClr>
              </a:gs>
            </a:gsLst>
            <a:lin ang="4500000" scaled="0"/>
          </a:gradFill>
          <a:ln/>
        </p:spPr>
      </p:sp>
      <p:sp>
        <p:nvSpPr>
          <p:cNvPr id="4" name="Shape 2"/>
          <p:cNvSpPr/>
          <p:nvPr/>
        </p:nvSpPr>
        <p:spPr>
          <a:xfrm>
            <a:off x="114185" y="114185"/>
            <a:ext cx="1444758" cy="1444758"/>
          </a:xfrm>
          <a:prstGeom prst="rect">
            <a:avLst/>
          </a:prstGeom>
          <a:ln w="8004">
            <a:solidFill>
              <a:srgbClr val="9FC0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287499" y="7048449"/>
            <a:ext cx="4000475" cy="3238450"/>
          </a:xfrm>
          <a:prstGeom prst="rect">
            <a:avLst/>
          </a:prstGeom>
          <a:solidFill>
            <a:srgbClr val="7BA7D6">
              <a:alpha val="4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2762200" y="3714700"/>
            <a:ext cx="13096874" cy="30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360" dirty="0">
                <a:solidFill>
                  <a:srgbClr val="178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762200" y="4169313"/>
            <a:ext cx="13096874" cy="9707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8950"/>
              </a:lnSpc>
              <a:buNone/>
            </a:pPr>
            <a:r>
              <a:rPr lang="en-US" sz="720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Territory Analysis</a:t>
            </a:r>
            <a:endParaRPr lang="en-US" sz="7200" dirty="0"/>
          </a:p>
        </p:txBody>
      </p:sp>
      <p:sp>
        <p:nvSpPr>
          <p:cNvPr id="8" name="Text 6"/>
          <p:cNvSpPr/>
          <p:nvPr/>
        </p:nvSpPr>
        <p:spPr>
          <a:xfrm>
            <a:off x="2762200" y="5101928"/>
            <a:ext cx="13096874" cy="9707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8950"/>
              </a:lnSpc>
              <a:buNone/>
            </a:pPr>
            <a:r>
              <a:rPr lang="en-US" sz="7200" b="1" dirty="0">
                <a:solidFill>
                  <a:srgbClr val="8FB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Key Findings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2762200" y="6358337"/>
            <a:ext cx="13096874" cy="4142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Mapping sales performance to find underperforming markets</a:t>
            </a:r>
            <a:endParaRPr lang="en-US" sz="2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185" y="-380950"/>
            <a:ext cx="1219140" cy="2190650"/>
          </a:xfrm>
          <a:prstGeom prst="rect">
            <a:avLst/>
          </a:prstGeom>
          <a:gradFill rotWithShape="1">
            <a:gsLst>
              <a:gs pos="0">
                <a:srgbClr val="1F9A66">
                  <a:alpha val="100000"/>
                </a:srgbClr>
              </a:gs>
              <a:gs pos="100000">
                <a:srgbClr val="0B5638">
                  <a:alpha val="100000"/>
                </a:srgbClr>
              </a:gs>
            </a:gsLst>
            <a:lin ang="4500000" scaled="0"/>
          </a:gradFill>
          <a:ln/>
        </p:spPr>
      </p:sp>
      <p:sp>
        <p:nvSpPr>
          <p:cNvPr id="3" name="Shape 1"/>
          <p:cNvSpPr/>
          <p:nvPr/>
        </p:nvSpPr>
        <p:spPr>
          <a:xfrm>
            <a:off x="742890" y="-380950"/>
            <a:ext cx="990520" cy="2362115"/>
          </a:xfrm>
          <a:prstGeom prst="rect">
            <a:avLst/>
          </a:prstGeom>
          <a:gradFill rotWithShape="1">
            <a:gsLst>
              <a:gs pos="0">
                <a:srgbClr val="D9564F">
                  <a:alpha val="100000"/>
                </a:srgbClr>
              </a:gs>
              <a:gs pos="100000">
                <a:srgbClr val="A82C28">
                  <a:alpha val="100000"/>
                </a:srgbClr>
              </a:gs>
            </a:gsLst>
            <a:lin ang="4500000" scaled="0"/>
          </a:gradFill>
          <a:ln/>
        </p:spPr>
      </p:sp>
      <p:sp>
        <p:nvSpPr>
          <p:cNvPr id="4" name="Text 2"/>
          <p:cNvSpPr/>
          <p:nvPr/>
        </p:nvSpPr>
        <p:spPr>
          <a:xfrm>
            <a:off x="91392" y="742890"/>
            <a:ext cx="18105190" cy="5903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375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at a Glance — </a:t>
            </a:r>
            <a:r>
              <a:rPr lang="en-US" sz="3750" b="1" dirty="0">
                <a:solidFill>
                  <a:srgbClr val="5B8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Metrics</a:t>
            </a:r>
            <a:endParaRPr lang="en-US" sz="3750" dirty="0"/>
          </a:p>
        </p:txBody>
      </p:sp>
      <p:sp>
        <p:nvSpPr>
          <p:cNvPr id="5" name="Shape 3"/>
          <p:cNvSpPr/>
          <p:nvPr/>
        </p:nvSpPr>
        <p:spPr>
          <a:xfrm>
            <a:off x="914355" y="1714275"/>
            <a:ext cx="3760724" cy="1604217"/>
          </a:xfrm>
          <a:prstGeom prst="rect">
            <a:avLst/>
          </a:prstGeom>
          <a:solidFill>
            <a:srgbClr val="FFFFFF"/>
          </a:solidFill>
          <a:ln w="8004">
            <a:solidFill>
              <a:srgbClr val="E2E2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46154" y="2007929"/>
            <a:ext cx="3406838" cy="6476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540"/>
              </a:lnSpc>
              <a:buNone/>
            </a:pPr>
            <a:r>
              <a:rPr lang="en-US" sz="4800" b="1" dirty="0">
                <a:solidFill>
                  <a:srgbClr val="178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1246154" y="2712674"/>
            <a:ext cx="3406838" cy="3502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Orders</a:t>
            </a:r>
            <a:endParaRPr lang="en-US" sz="1725" dirty="0"/>
          </a:p>
        </p:txBody>
      </p:sp>
      <p:sp>
        <p:nvSpPr>
          <p:cNvPr id="8" name="Shape 6"/>
          <p:cNvSpPr/>
          <p:nvPr/>
        </p:nvSpPr>
        <p:spPr>
          <a:xfrm>
            <a:off x="4903574" y="1714275"/>
            <a:ext cx="3760849" cy="1604217"/>
          </a:xfrm>
          <a:prstGeom prst="rect">
            <a:avLst/>
          </a:prstGeom>
          <a:solidFill>
            <a:srgbClr val="FFFFFF"/>
          </a:solidFill>
          <a:ln w="8004">
            <a:solidFill>
              <a:srgbClr val="E2E2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35373" y="2007929"/>
            <a:ext cx="3406976" cy="6476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540"/>
              </a:lnSpc>
              <a:buNone/>
            </a:pPr>
            <a:r>
              <a:rPr lang="en-US" sz="4800" b="1" dirty="0">
                <a:solidFill>
                  <a:srgbClr val="5B8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632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5235373" y="2712674"/>
            <a:ext cx="3406976" cy="3502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Resellers</a:t>
            </a:r>
            <a:endParaRPr lang="en-US" sz="1725" dirty="0"/>
          </a:p>
        </p:txBody>
      </p:sp>
      <p:sp>
        <p:nvSpPr>
          <p:cNvPr id="11" name="Shape 9"/>
          <p:cNvSpPr/>
          <p:nvPr/>
        </p:nvSpPr>
        <p:spPr>
          <a:xfrm>
            <a:off x="914355" y="3546987"/>
            <a:ext cx="3760724" cy="1604217"/>
          </a:xfrm>
          <a:prstGeom prst="rect">
            <a:avLst/>
          </a:prstGeom>
          <a:solidFill>
            <a:srgbClr val="FFFFFF"/>
          </a:solidFill>
          <a:ln w="8004">
            <a:solidFill>
              <a:srgbClr val="E2E2D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6154" y="3840641"/>
            <a:ext cx="3406838" cy="6476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540"/>
              </a:lnSpc>
              <a:buNone/>
            </a:pPr>
            <a:r>
              <a:rPr lang="en-US" sz="480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1246154" y="4545386"/>
            <a:ext cx="3406838" cy="3502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Salespersons</a:t>
            </a:r>
            <a:endParaRPr lang="en-US" sz="1725" dirty="0"/>
          </a:p>
        </p:txBody>
      </p:sp>
      <p:sp>
        <p:nvSpPr>
          <p:cNvPr id="14" name="Shape 12"/>
          <p:cNvSpPr/>
          <p:nvPr/>
        </p:nvSpPr>
        <p:spPr>
          <a:xfrm>
            <a:off x="4903574" y="3546987"/>
            <a:ext cx="3760849" cy="1604217"/>
          </a:xfrm>
          <a:prstGeom prst="rect">
            <a:avLst/>
          </a:prstGeom>
          <a:solidFill>
            <a:srgbClr val="FFFFFF"/>
          </a:solidFill>
          <a:ln w="8004">
            <a:solidFill>
              <a:srgbClr val="E2E2D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35373" y="3840641"/>
            <a:ext cx="3406976" cy="6476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540"/>
              </a:lnSpc>
              <a:buNone/>
            </a:pPr>
            <a:r>
              <a:rPr lang="en-US" sz="4800" b="1" dirty="0">
                <a:solidFill>
                  <a:srgbClr val="C4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5235373" y="4545386"/>
            <a:ext cx="3406976" cy="3502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Territories</a:t>
            </a:r>
            <a:endParaRPr lang="en-US" sz="1725" dirty="0"/>
          </a:p>
        </p:txBody>
      </p:sp>
      <p:sp>
        <p:nvSpPr>
          <p:cNvPr id="17" name="Shape 15"/>
          <p:cNvSpPr/>
          <p:nvPr/>
        </p:nvSpPr>
        <p:spPr>
          <a:xfrm>
            <a:off x="914355" y="8165536"/>
            <a:ext cx="7750068" cy="14927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914355" y="9650315"/>
            <a:ext cx="7750068" cy="9525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19" name="Shape 17"/>
          <p:cNvSpPr/>
          <p:nvPr/>
        </p:nvSpPr>
        <p:spPr>
          <a:xfrm>
            <a:off x="914355" y="8165536"/>
            <a:ext cx="7750068" cy="9525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20" name="Shape 18"/>
          <p:cNvSpPr/>
          <p:nvPr/>
        </p:nvSpPr>
        <p:spPr>
          <a:xfrm>
            <a:off x="914355" y="8165536"/>
            <a:ext cx="40021" cy="1492784"/>
          </a:xfrm>
          <a:prstGeom prst="rect">
            <a:avLst/>
          </a:prstGeom>
          <a:solidFill>
            <a:srgbClr val="9FC0E0"/>
          </a:solidFill>
          <a:ln/>
        </p:spPr>
      </p:sp>
      <p:sp>
        <p:nvSpPr>
          <p:cNvPr id="21" name="Shape 19"/>
          <p:cNvSpPr/>
          <p:nvPr/>
        </p:nvSpPr>
        <p:spPr>
          <a:xfrm>
            <a:off x="8656418" y="8165536"/>
            <a:ext cx="9525" cy="1492784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22" name="Text 20"/>
          <p:cNvSpPr/>
          <p:nvPr/>
        </p:nvSpPr>
        <p:spPr>
          <a:xfrm>
            <a:off x="1278171" y="8616648"/>
            <a:ext cx="1625691" cy="6286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800"/>
              </a:lnSpc>
              <a:buNone/>
            </a:pPr>
            <a:r>
              <a:rPr lang="en-US" sz="465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212.7</a:t>
            </a:r>
            <a:endParaRPr lang="en-US" sz="4650" dirty="0"/>
          </a:p>
        </p:txBody>
      </p:sp>
      <p:sp>
        <p:nvSpPr>
          <p:cNvPr id="23" name="Text 21"/>
          <p:cNvSpPr/>
          <p:nvPr/>
        </p:nvSpPr>
        <p:spPr>
          <a:xfrm>
            <a:off x="3041722" y="8459190"/>
            <a:ext cx="5819992" cy="310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Orders per Salesperson</a:t>
            </a:r>
            <a:endParaRPr lang="en-US" sz="1875" dirty="0"/>
          </a:p>
        </p:txBody>
      </p:sp>
      <p:sp>
        <p:nvSpPr>
          <p:cNvPr id="24" name="Text 22"/>
          <p:cNvSpPr/>
          <p:nvPr/>
        </p:nvSpPr>
        <p:spPr>
          <a:xfrm>
            <a:off x="3041722" y="8788363"/>
            <a:ext cx="5449629" cy="6144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average — but distribution is highly uneven across territories</a:t>
            </a:r>
            <a:endParaRPr lang="en-US" sz="1575" dirty="0"/>
          </a:p>
        </p:txBody>
      </p:sp>
      <p:sp>
        <p:nvSpPr>
          <p:cNvPr id="25" name="Shape 23"/>
          <p:cNvSpPr/>
          <p:nvPr/>
        </p:nvSpPr>
        <p:spPr>
          <a:xfrm>
            <a:off x="9235848" y="1714275"/>
            <a:ext cx="8137771" cy="7944045"/>
          </a:xfrm>
          <a:prstGeom prst="rect">
            <a:avLst/>
          </a:prstGeom>
          <a:solidFill>
            <a:srgbClr val="FFFFFF"/>
          </a:solidFill>
          <a:ln w="8004">
            <a:solidFill>
              <a:srgbClr val="E2E2D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24802" y="2046074"/>
            <a:ext cx="8095849" cy="334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Orders by Territory</a:t>
            </a:r>
            <a:endParaRPr lang="en-US" sz="2025" dirty="0"/>
          </a:p>
        </p:txBody>
      </p:sp>
      <p:sp>
        <p:nvSpPr>
          <p:cNvPr id="27" name="Text 25"/>
          <p:cNvSpPr/>
          <p:nvPr/>
        </p:nvSpPr>
        <p:spPr>
          <a:xfrm>
            <a:off x="9624802" y="2589859"/>
            <a:ext cx="1990670" cy="334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Southwest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1605842" y="2633132"/>
            <a:ext cx="4483603" cy="209485"/>
          </a:xfrm>
          <a:prstGeom prst="rect">
            <a:avLst/>
          </a:prstGeom>
          <a:solidFill>
            <a:srgbClr val="EEF1F0"/>
          </a:solidFill>
          <a:ln/>
        </p:spPr>
      </p:sp>
      <p:sp>
        <p:nvSpPr>
          <p:cNvPr id="29" name="Shape 27"/>
          <p:cNvSpPr/>
          <p:nvPr/>
        </p:nvSpPr>
        <p:spPr>
          <a:xfrm>
            <a:off x="11605842" y="2633132"/>
            <a:ext cx="4483603" cy="209485"/>
          </a:xfrm>
          <a:prstGeom prst="rect">
            <a:avLst/>
          </a:prstGeom>
          <a:gradFill rotWithShape="1">
            <a:gsLst>
              <a:gs pos="0">
                <a:srgbClr val="17835A">
                  <a:alpha val="100000"/>
                </a:srgbClr>
              </a:gs>
              <a:gs pos="100000">
                <a:srgbClr val="22A876">
                  <a:alpha val="100000"/>
                </a:srgbClr>
              </a:gs>
            </a:gsLst>
            <a:lin ang="0" scaled="0"/>
          </a:gradFill>
          <a:ln/>
        </p:spPr>
      </p:sp>
      <p:sp>
        <p:nvSpPr>
          <p:cNvPr id="30" name="Text 28"/>
          <p:cNvSpPr/>
          <p:nvPr/>
        </p:nvSpPr>
        <p:spPr>
          <a:xfrm>
            <a:off x="16184585" y="2613872"/>
            <a:ext cx="800080" cy="2862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717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9624802" y="3305485"/>
            <a:ext cx="1990670" cy="334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Canada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1605842" y="3348758"/>
            <a:ext cx="4483603" cy="209485"/>
          </a:xfrm>
          <a:prstGeom prst="rect">
            <a:avLst/>
          </a:prstGeom>
          <a:solidFill>
            <a:srgbClr val="EEF1F0"/>
          </a:solidFill>
          <a:ln/>
        </p:spPr>
      </p:sp>
      <p:sp>
        <p:nvSpPr>
          <p:cNvPr id="33" name="Shape 31"/>
          <p:cNvSpPr/>
          <p:nvPr/>
        </p:nvSpPr>
        <p:spPr>
          <a:xfrm>
            <a:off x="11605842" y="3348758"/>
            <a:ext cx="4115910" cy="209485"/>
          </a:xfrm>
          <a:prstGeom prst="rect">
            <a:avLst/>
          </a:prstGeom>
          <a:gradFill rotWithShape="1">
            <a:gsLst>
              <a:gs pos="0">
                <a:srgbClr val="17835A">
                  <a:alpha val="100000"/>
                </a:srgbClr>
              </a:gs>
              <a:gs pos="100000">
                <a:srgbClr val="22A876">
                  <a:alpha val="100000"/>
                </a:srgbClr>
              </a:gs>
            </a:gsLst>
            <a:lin ang="0" scaled="0"/>
          </a:gradFill>
          <a:ln/>
        </p:spPr>
      </p:sp>
      <p:sp>
        <p:nvSpPr>
          <p:cNvPr id="34" name="Text 32"/>
          <p:cNvSpPr/>
          <p:nvPr/>
        </p:nvSpPr>
        <p:spPr>
          <a:xfrm>
            <a:off x="16184585" y="3329498"/>
            <a:ext cx="800080" cy="2862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658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9624802" y="4021111"/>
            <a:ext cx="1990670" cy="334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Northwest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1605842" y="4064383"/>
            <a:ext cx="4483603" cy="209485"/>
          </a:xfrm>
          <a:prstGeom prst="rect">
            <a:avLst/>
          </a:prstGeom>
          <a:solidFill>
            <a:srgbClr val="EEF1F0"/>
          </a:solidFill>
          <a:ln/>
        </p:spPr>
      </p:sp>
      <p:sp>
        <p:nvSpPr>
          <p:cNvPr id="37" name="Shape 35"/>
          <p:cNvSpPr/>
          <p:nvPr/>
        </p:nvSpPr>
        <p:spPr>
          <a:xfrm>
            <a:off x="11605842" y="4064383"/>
            <a:ext cx="3205683" cy="209485"/>
          </a:xfrm>
          <a:prstGeom prst="rect">
            <a:avLst/>
          </a:prstGeom>
          <a:gradFill rotWithShape="1">
            <a:gsLst>
              <a:gs pos="0">
                <a:srgbClr val="3E7FB8">
                  <a:alpha val="100000"/>
                </a:srgbClr>
              </a:gs>
              <a:gs pos="100000">
                <a:srgbClr val="6FA3D4">
                  <a:alpha val="100000"/>
                </a:srgbClr>
              </a:gs>
            </a:gsLst>
            <a:lin ang="0" scaled="0"/>
          </a:gradFill>
          <a:ln/>
        </p:spPr>
      </p:sp>
      <p:sp>
        <p:nvSpPr>
          <p:cNvPr id="38" name="Text 36"/>
          <p:cNvSpPr/>
          <p:nvPr/>
        </p:nvSpPr>
        <p:spPr>
          <a:xfrm>
            <a:off x="16184585" y="4045123"/>
            <a:ext cx="800080" cy="2862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513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9624802" y="4736736"/>
            <a:ext cx="1990670" cy="334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Southeast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1605842" y="4780009"/>
            <a:ext cx="4483603" cy="209485"/>
          </a:xfrm>
          <a:prstGeom prst="rect">
            <a:avLst/>
          </a:prstGeom>
          <a:solidFill>
            <a:srgbClr val="EEF1F0"/>
          </a:solidFill>
          <a:ln/>
        </p:spPr>
      </p:sp>
      <p:sp>
        <p:nvSpPr>
          <p:cNvPr id="41" name="Shape 39"/>
          <p:cNvSpPr/>
          <p:nvPr/>
        </p:nvSpPr>
        <p:spPr>
          <a:xfrm>
            <a:off x="11605842" y="4780009"/>
            <a:ext cx="2846994" cy="209485"/>
          </a:xfrm>
          <a:prstGeom prst="rect">
            <a:avLst/>
          </a:prstGeom>
          <a:gradFill rotWithShape="1">
            <a:gsLst>
              <a:gs pos="0">
                <a:srgbClr val="3E7FB8">
                  <a:alpha val="100000"/>
                </a:srgbClr>
              </a:gs>
              <a:gs pos="100000">
                <a:srgbClr val="6FA3D4">
                  <a:alpha val="100000"/>
                </a:srgbClr>
              </a:gs>
            </a:gsLst>
            <a:lin ang="0" scaled="0"/>
          </a:gradFill>
          <a:ln/>
        </p:spPr>
      </p:sp>
      <p:sp>
        <p:nvSpPr>
          <p:cNvPr id="42" name="Text 40"/>
          <p:cNvSpPr/>
          <p:nvPr/>
        </p:nvSpPr>
        <p:spPr>
          <a:xfrm>
            <a:off x="16184585" y="4760749"/>
            <a:ext cx="800080" cy="2862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455</a:t>
            </a:r>
            <a:endParaRPr lang="en-US" sz="1650" dirty="0"/>
          </a:p>
        </p:txBody>
      </p:sp>
      <p:sp>
        <p:nvSpPr>
          <p:cNvPr id="43" name="Text 41"/>
          <p:cNvSpPr/>
          <p:nvPr/>
        </p:nvSpPr>
        <p:spPr>
          <a:xfrm>
            <a:off x="9624802" y="5452362"/>
            <a:ext cx="1990670" cy="334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</a:t>
            </a:r>
            <a:endParaRPr lang="en-US" sz="1650" dirty="0"/>
          </a:p>
        </p:txBody>
      </p:sp>
      <p:sp>
        <p:nvSpPr>
          <p:cNvPr id="44" name="Shape 42"/>
          <p:cNvSpPr/>
          <p:nvPr/>
        </p:nvSpPr>
        <p:spPr>
          <a:xfrm>
            <a:off x="11605842" y="5495634"/>
            <a:ext cx="4483603" cy="209485"/>
          </a:xfrm>
          <a:prstGeom prst="rect">
            <a:avLst/>
          </a:prstGeom>
          <a:solidFill>
            <a:srgbClr val="EEF1F0"/>
          </a:solidFill>
          <a:ln/>
        </p:spPr>
      </p:sp>
      <p:sp>
        <p:nvSpPr>
          <p:cNvPr id="45" name="Shape 43"/>
          <p:cNvSpPr/>
          <p:nvPr/>
        </p:nvSpPr>
        <p:spPr>
          <a:xfrm>
            <a:off x="11605842" y="5495634"/>
            <a:ext cx="2268691" cy="209485"/>
          </a:xfrm>
          <a:prstGeom prst="rect">
            <a:avLst/>
          </a:prstGeom>
          <a:gradFill rotWithShape="1">
            <a:gsLst>
              <a:gs pos="0">
                <a:srgbClr val="3E7FB8">
                  <a:alpha val="100000"/>
                </a:srgbClr>
              </a:gs>
              <a:gs pos="100000">
                <a:srgbClr val="6FA3D4">
                  <a:alpha val="100000"/>
                </a:srgbClr>
              </a:gs>
            </a:gsLst>
            <a:lin ang="0" scaled="0"/>
          </a:gradFill>
          <a:ln/>
        </p:spPr>
      </p:sp>
      <p:sp>
        <p:nvSpPr>
          <p:cNvPr id="46" name="Text 44"/>
          <p:cNvSpPr/>
          <p:nvPr/>
        </p:nvSpPr>
        <p:spPr>
          <a:xfrm>
            <a:off x="16184585" y="5476374"/>
            <a:ext cx="800080" cy="2862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363</a:t>
            </a:r>
            <a:endParaRPr lang="en-US" sz="1650" dirty="0"/>
          </a:p>
        </p:txBody>
      </p:sp>
      <p:sp>
        <p:nvSpPr>
          <p:cNvPr id="47" name="Text 45"/>
          <p:cNvSpPr/>
          <p:nvPr/>
        </p:nvSpPr>
        <p:spPr>
          <a:xfrm>
            <a:off x="9624802" y="6167862"/>
            <a:ext cx="1990670" cy="334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Northeast</a:t>
            </a:r>
            <a:endParaRPr lang="en-US" sz="1650" dirty="0"/>
          </a:p>
        </p:txBody>
      </p:sp>
      <p:sp>
        <p:nvSpPr>
          <p:cNvPr id="48" name="Shape 46"/>
          <p:cNvSpPr/>
          <p:nvPr/>
        </p:nvSpPr>
        <p:spPr>
          <a:xfrm>
            <a:off x="11605842" y="6211135"/>
            <a:ext cx="4483603" cy="209485"/>
          </a:xfrm>
          <a:prstGeom prst="rect">
            <a:avLst/>
          </a:prstGeom>
          <a:solidFill>
            <a:srgbClr val="EEF1F0"/>
          </a:solidFill>
          <a:ln/>
        </p:spPr>
      </p:sp>
      <p:sp>
        <p:nvSpPr>
          <p:cNvPr id="49" name="Shape 47"/>
          <p:cNvSpPr/>
          <p:nvPr/>
        </p:nvSpPr>
        <p:spPr>
          <a:xfrm>
            <a:off x="11605842" y="6211135"/>
            <a:ext cx="2071337" cy="209485"/>
          </a:xfrm>
          <a:prstGeom prst="rect">
            <a:avLst/>
          </a:prstGeom>
          <a:gradFill rotWithShape="1">
            <a:gsLst>
              <a:gs pos="0">
                <a:srgbClr val="3E7FB8">
                  <a:alpha val="100000"/>
                </a:srgbClr>
              </a:gs>
              <a:gs pos="100000">
                <a:srgbClr val="6FA3D4">
                  <a:alpha val="100000"/>
                </a:srgbClr>
              </a:gs>
            </a:gsLst>
            <a:lin ang="0" scaled="0"/>
          </a:gradFill>
          <a:ln/>
        </p:spPr>
      </p:sp>
      <p:sp>
        <p:nvSpPr>
          <p:cNvPr id="50" name="Text 48"/>
          <p:cNvSpPr/>
          <p:nvPr/>
        </p:nvSpPr>
        <p:spPr>
          <a:xfrm>
            <a:off x="16184585" y="6191875"/>
            <a:ext cx="800080" cy="2862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331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9624802" y="6883488"/>
            <a:ext cx="1990670" cy="334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France</a:t>
            </a:r>
            <a:endParaRPr lang="en-US" sz="1650" dirty="0"/>
          </a:p>
        </p:txBody>
      </p:sp>
      <p:sp>
        <p:nvSpPr>
          <p:cNvPr id="52" name="Shape 50"/>
          <p:cNvSpPr/>
          <p:nvPr/>
        </p:nvSpPr>
        <p:spPr>
          <a:xfrm>
            <a:off x="11605842" y="6926761"/>
            <a:ext cx="4483603" cy="209485"/>
          </a:xfrm>
          <a:prstGeom prst="rect">
            <a:avLst/>
          </a:prstGeom>
          <a:solidFill>
            <a:srgbClr val="EEF1F0"/>
          </a:solidFill>
          <a:ln/>
        </p:spPr>
      </p:sp>
      <p:sp>
        <p:nvSpPr>
          <p:cNvPr id="53" name="Shape 51"/>
          <p:cNvSpPr/>
          <p:nvPr/>
        </p:nvSpPr>
        <p:spPr>
          <a:xfrm>
            <a:off x="11605842" y="6926761"/>
            <a:ext cx="1120838" cy="209485"/>
          </a:xfrm>
          <a:prstGeom prst="rect">
            <a:avLst/>
          </a:prstGeom>
          <a:gradFill rotWithShape="1">
            <a:gsLst>
              <a:gs pos="0">
                <a:srgbClr val="B8B8B2">
                  <a:alpha val="100000"/>
                </a:srgbClr>
              </a:gs>
              <a:gs pos="100000">
                <a:srgbClr val="CFCFC9">
                  <a:alpha val="100000"/>
                </a:srgbClr>
              </a:gs>
            </a:gsLst>
            <a:lin ang="0" scaled="0"/>
          </a:gradFill>
          <a:ln/>
        </p:spPr>
      </p:sp>
      <p:sp>
        <p:nvSpPr>
          <p:cNvPr id="54" name="Text 52"/>
          <p:cNvSpPr/>
          <p:nvPr/>
        </p:nvSpPr>
        <p:spPr>
          <a:xfrm>
            <a:off x="16184585" y="6907500"/>
            <a:ext cx="800080" cy="2862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179</a:t>
            </a:r>
            <a:endParaRPr lang="en-US" sz="1650" dirty="0"/>
          </a:p>
        </p:txBody>
      </p:sp>
      <p:sp>
        <p:nvSpPr>
          <p:cNvPr id="55" name="Text 53"/>
          <p:cNvSpPr/>
          <p:nvPr/>
        </p:nvSpPr>
        <p:spPr>
          <a:xfrm>
            <a:off x="9624802" y="7599113"/>
            <a:ext cx="1990670" cy="334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United Kingdom</a:t>
            </a:r>
            <a:endParaRPr lang="en-US" sz="1650" dirty="0"/>
          </a:p>
        </p:txBody>
      </p:sp>
      <p:sp>
        <p:nvSpPr>
          <p:cNvPr id="56" name="Shape 54"/>
          <p:cNvSpPr/>
          <p:nvPr/>
        </p:nvSpPr>
        <p:spPr>
          <a:xfrm>
            <a:off x="11605842" y="7642386"/>
            <a:ext cx="4483603" cy="209485"/>
          </a:xfrm>
          <a:prstGeom prst="rect">
            <a:avLst/>
          </a:prstGeom>
          <a:solidFill>
            <a:srgbClr val="EEF1F0"/>
          </a:solidFill>
          <a:ln/>
        </p:spPr>
      </p:sp>
      <p:sp>
        <p:nvSpPr>
          <p:cNvPr id="57" name="Shape 55"/>
          <p:cNvSpPr/>
          <p:nvPr/>
        </p:nvSpPr>
        <p:spPr>
          <a:xfrm>
            <a:off x="11605842" y="7642386"/>
            <a:ext cx="1089447" cy="209485"/>
          </a:xfrm>
          <a:prstGeom prst="rect">
            <a:avLst/>
          </a:prstGeom>
          <a:gradFill rotWithShape="1">
            <a:gsLst>
              <a:gs pos="0">
                <a:srgbClr val="B8B8B2">
                  <a:alpha val="100000"/>
                </a:srgbClr>
              </a:gs>
              <a:gs pos="100000">
                <a:srgbClr val="CFCFC9">
                  <a:alpha val="100000"/>
                </a:srgbClr>
              </a:gs>
            </a:gsLst>
            <a:lin ang="0" scaled="0"/>
          </a:gradFill>
          <a:ln/>
        </p:spPr>
      </p:sp>
      <p:sp>
        <p:nvSpPr>
          <p:cNvPr id="58" name="Text 56"/>
          <p:cNvSpPr/>
          <p:nvPr/>
        </p:nvSpPr>
        <p:spPr>
          <a:xfrm>
            <a:off x="16184585" y="7623126"/>
            <a:ext cx="800080" cy="2862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174</a:t>
            </a:r>
            <a:endParaRPr lang="en-US" sz="1650" dirty="0"/>
          </a:p>
        </p:txBody>
      </p:sp>
      <p:sp>
        <p:nvSpPr>
          <p:cNvPr id="59" name="Text 57"/>
          <p:cNvSpPr/>
          <p:nvPr/>
        </p:nvSpPr>
        <p:spPr>
          <a:xfrm>
            <a:off x="9624802" y="8314739"/>
            <a:ext cx="1990670" cy="334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Germany</a:t>
            </a:r>
            <a:endParaRPr lang="en-US" sz="1650" dirty="0"/>
          </a:p>
        </p:txBody>
      </p:sp>
      <p:sp>
        <p:nvSpPr>
          <p:cNvPr id="60" name="Shape 58"/>
          <p:cNvSpPr/>
          <p:nvPr/>
        </p:nvSpPr>
        <p:spPr>
          <a:xfrm>
            <a:off x="11605842" y="8358012"/>
            <a:ext cx="4483603" cy="209485"/>
          </a:xfrm>
          <a:prstGeom prst="rect">
            <a:avLst/>
          </a:prstGeom>
          <a:solidFill>
            <a:srgbClr val="EEF1F0"/>
          </a:solidFill>
          <a:ln/>
        </p:spPr>
      </p:sp>
      <p:sp>
        <p:nvSpPr>
          <p:cNvPr id="61" name="Shape 59"/>
          <p:cNvSpPr/>
          <p:nvPr/>
        </p:nvSpPr>
        <p:spPr>
          <a:xfrm>
            <a:off x="11605842" y="8358012"/>
            <a:ext cx="739763" cy="209485"/>
          </a:xfrm>
          <a:prstGeom prst="rect">
            <a:avLst/>
          </a:prstGeom>
          <a:gradFill rotWithShape="1">
            <a:gsLst>
              <a:gs pos="0">
                <a:srgbClr val="C43B3B">
                  <a:alpha val="100000"/>
                </a:srgbClr>
              </a:gs>
              <a:gs pos="100000">
                <a:srgbClr val="DB6A62">
                  <a:alpha val="100000"/>
                </a:srgbClr>
              </a:gs>
            </a:gsLst>
            <a:lin ang="0" scaled="0"/>
          </a:gradFill>
          <a:ln/>
        </p:spPr>
      </p:sp>
      <p:sp>
        <p:nvSpPr>
          <p:cNvPr id="62" name="Text 60"/>
          <p:cNvSpPr/>
          <p:nvPr/>
        </p:nvSpPr>
        <p:spPr>
          <a:xfrm>
            <a:off x="16184585" y="8338752"/>
            <a:ext cx="800080" cy="2862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</a:t>
            </a:r>
            <a:endParaRPr lang="en-US" sz="1650" dirty="0"/>
          </a:p>
        </p:txBody>
      </p:sp>
      <p:sp>
        <p:nvSpPr>
          <p:cNvPr id="63" name="Text 61"/>
          <p:cNvSpPr/>
          <p:nvPr/>
        </p:nvSpPr>
        <p:spPr>
          <a:xfrm>
            <a:off x="9624802" y="9030365"/>
            <a:ext cx="1990670" cy="334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Australia</a:t>
            </a:r>
            <a:endParaRPr lang="en-US" sz="1650" dirty="0"/>
          </a:p>
        </p:txBody>
      </p:sp>
      <p:sp>
        <p:nvSpPr>
          <p:cNvPr id="64" name="Shape 62"/>
          <p:cNvSpPr/>
          <p:nvPr/>
        </p:nvSpPr>
        <p:spPr>
          <a:xfrm>
            <a:off x="11605842" y="9073637"/>
            <a:ext cx="4483603" cy="209485"/>
          </a:xfrm>
          <a:prstGeom prst="rect">
            <a:avLst/>
          </a:prstGeom>
          <a:solidFill>
            <a:srgbClr val="EEF1F0"/>
          </a:solidFill>
          <a:ln/>
        </p:spPr>
      </p:sp>
      <p:sp>
        <p:nvSpPr>
          <p:cNvPr id="65" name="Shape 63"/>
          <p:cNvSpPr/>
          <p:nvPr/>
        </p:nvSpPr>
        <p:spPr>
          <a:xfrm>
            <a:off x="11605842" y="9073637"/>
            <a:ext cx="676980" cy="209485"/>
          </a:xfrm>
          <a:prstGeom prst="rect">
            <a:avLst/>
          </a:prstGeom>
          <a:gradFill rotWithShape="1">
            <a:gsLst>
              <a:gs pos="0">
                <a:srgbClr val="C43B3B">
                  <a:alpha val="100000"/>
                </a:srgbClr>
              </a:gs>
              <a:gs pos="100000">
                <a:srgbClr val="DB6A62">
                  <a:alpha val="100000"/>
                </a:srgbClr>
              </a:gs>
            </a:gsLst>
            <a:lin ang="0" scaled="0"/>
          </a:gradFill>
          <a:ln/>
        </p:spPr>
      </p:sp>
      <p:sp>
        <p:nvSpPr>
          <p:cNvPr id="66" name="Text 64"/>
          <p:cNvSpPr/>
          <p:nvPr/>
        </p:nvSpPr>
        <p:spPr>
          <a:xfrm>
            <a:off x="16184585" y="9054378"/>
            <a:ext cx="800080" cy="2862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185" y="-380950"/>
            <a:ext cx="1219140" cy="2190650"/>
          </a:xfrm>
          <a:prstGeom prst="rect">
            <a:avLst/>
          </a:prstGeom>
          <a:gradFill rotWithShape="1">
            <a:gsLst>
              <a:gs pos="0">
                <a:srgbClr val="1F9A66">
                  <a:alpha val="100000"/>
                </a:srgbClr>
              </a:gs>
              <a:gs pos="100000">
                <a:srgbClr val="0B5638">
                  <a:alpha val="100000"/>
                </a:srgbClr>
              </a:gs>
            </a:gsLst>
            <a:lin ang="4500000" scaled="0"/>
          </a:gradFill>
          <a:ln/>
        </p:spPr>
      </p:sp>
      <p:sp>
        <p:nvSpPr>
          <p:cNvPr id="3" name="Shape 1"/>
          <p:cNvSpPr/>
          <p:nvPr/>
        </p:nvSpPr>
        <p:spPr>
          <a:xfrm>
            <a:off x="742890" y="-380950"/>
            <a:ext cx="990520" cy="2362115"/>
          </a:xfrm>
          <a:prstGeom prst="rect">
            <a:avLst/>
          </a:prstGeom>
          <a:gradFill rotWithShape="1">
            <a:gsLst>
              <a:gs pos="0">
                <a:srgbClr val="D9564F">
                  <a:alpha val="100000"/>
                </a:srgbClr>
              </a:gs>
              <a:gs pos="100000">
                <a:srgbClr val="A82C28">
                  <a:alpha val="100000"/>
                </a:srgbClr>
              </a:gs>
            </a:gsLst>
            <a:lin ang="4500000" scaled="0"/>
          </a:gradFill>
          <a:ln/>
        </p:spPr>
      </p:sp>
      <p:sp>
        <p:nvSpPr>
          <p:cNvPr id="4" name="Shape 2"/>
          <p:cNvSpPr/>
          <p:nvPr/>
        </p:nvSpPr>
        <p:spPr>
          <a:xfrm>
            <a:off x="15621074" y="8191424"/>
            <a:ext cx="2666900" cy="2095475"/>
          </a:xfrm>
          <a:prstGeom prst="rect">
            <a:avLst/>
          </a:prstGeom>
          <a:solidFill>
            <a:srgbClr val="7BA7D6">
              <a:alpha val="4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1392" y="742890"/>
            <a:ext cx="18105190" cy="5903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375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Territory Performance — </a:t>
            </a:r>
            <a:r>
              <a:rPr lang="en-US" sz="3750" b="1" dirty="0">
                <a:solidFill>
                  <a:srgbClr val="5B8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Drives Volume</a:t>
            </a:r>
            <a:endParaRPr lang="en-US" sz="3750" dirty="0"/>
          </a:p>
        </p:txBody>
      </p:sp>
      <p:sp>
        <p:nvSpPr>
          <p:cNvPr id="6" name="Shape 4"/>
          <p:cNvSpPr/>
          <p:nvPr/>
        </p:nvSpPr>
        <p:spPr>
          <a:xfrm>
            <a:off x="914355" y="1733285"/>
            <a:ext cx="7061206" cy="27206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914355" y="4445959"/>
            <a:ext cx="7061206" cy="9525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8" name="Shape 6"/>
          <p:cNvSpPr/>
          <p:nvPr/>
        </p:nvSpPr>
        <p:spPr>
          <a:xfrm>
            <a:off x="914355" y="1733285"/>
            <a:ext cx="7061206" cy="40021"/>
          </a:xfrm>
          <a:prstGeom prst="rect">
            <a:avLst/>
          </a:prstGeom>
          <a:solidFill>
            <a:srgbClr val="C43B3B"/>
          </a:solidFill>
          <a:ln/>
        </p:spPr>
      </p:sp>
      <p:sp>
        <p:nvSpPr>
          <p:cNvPr id="9" name="Shape 7"/>
          <p:cNvSpPr/>
          <p:nvPr/>
        </p:nvSpPr>
        <p:spPr>
          <a:xfrm>
            <a:off x="914355" y="1733285"/>
            <a:ext cx="9525" cy="2720678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10" name="Shape 8"/>
          <p:cNvSpPr/>
          <p:nvPr/>
        </p:nvSpPr>
        <p:spPr>
          <a:xfrm>
            <a:off x="7967557" y="1733285"/>
            <a:ext cx="9525" cy="2720678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11" name="Text 9"/>
          <p:cNvSpPr/>
          <p:nvPr/>
        </p:nvSpPr>
        <p:spPr>
          <a:xfrm>
            <a:off x="1284299" y="2116111"/>
            <a:ext cx="6953449" cy="761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962"/>
              </a:lnSpc>
              <a:buNone/>
            </a:pPr>
            <a:r>
              <a:rPr lang="en-US" sz="5700" b="1" dirty="0">
                <a:solidFill>
                  <a:srgbClr val="C4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230</a:t>
            </a:r>
            <a:endParaRPr lang="en-US" sz="5700" dirty="0"/>
          </a:p>
        </p:txBody>
      </p:sp>
      <p:sp>
        <p:nvSpPr>
          <p:cNvPr id="12" name="Text 10"/>
          <p:cNvSpPr/>
          <p:nvPr/>
        </p:nvSpPr>
        <p:spPr>
          <a:xfrm>
            <a:off x="1284299" y="2935166"/>
            <a:ext cx="6953449" cy="3582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orders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84299" y="3445809"/>
            <a:ext cx="6953449" cy="342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Australia + Germany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84299" y="3806998"/>
            <a:ext cx="6953449" cy="334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vs. 717 for Southwest alone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914355" y="4701593"/>
            <a:ext cx="7061206" cy="155944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355" y="6253032"/>
            <a:ext cx="7061206" cy="9525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17" name="Shape 15"/>
          <p:cNvSpPr/>
          <p:nvPr/>
        </p:nvSpPr>
        <p:spPr>
          <a:xfrm>
            <a:off x="914355" y="4701593"/>
            <a:ext cx="7061206" cy="9525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4355" y="4701593"/>
            <a:ext cx="40021" cy="1559443"/>
          </a:xfrm>
          <a:prstGeom prst="rect">
            <a:avLst/>
          </a:prstGeom>
          <a:solidFill>
            <a:srgbClr val="9FC0E0"/>
          </a:solidFill>
          <a:ln/>
        </p:spPr>
      </p:sp>
      <p:sp>
        <p:nvSpPr>
          <p:cNvPr id="19" name="Shape 17"/>
          <p:cNvSpPr/>
          <p:nvPr/>
        </p:nvSpPr>
        <p:spPr>
          <a:xfrm>
            <a:off x="7967557" y="4701593"/>
            <a:ext cx="9525" cy="1559443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20" name="Text 18"/>
          <p:cNvSpPr/>
          <p:nvPr/>
        </p:nvSpPr>
        <p:spPr>
          <a:xfrm>
            <a:off x="1278171" y="4995247"/>
            <a:ext cx="7002150" cy="3262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Concentration risk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1278171" y="5359563"/>
            <a:ext cx="6556559" cy="6459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455"/>
              </a:lnSpc>
              <a:buNone/>
            </a:pPr>
            <a:r>
              <a:rPr lang="en-US" sz="165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territories are materially underserved versus peer markets of comparable size.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8546986" y="1733285"/>
            <a:ext cx="8826633" cy="7886890"/>
          </a:xfrm>
          <a:prstGeom prst="rect">
            <a:avLst/>
          </a:prstGeom>
          <a:solidFill>
            <a:srgbClr val="FFFFFF"/>
          </a:solidFill>
          <a:ln w="8004">
            <a:solidFill>
              <a:srgbClr val="E2E2D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74085" y="2084094"/>
            <a:ext cx="8769678" cy="334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Orders by Category Across All Territories</a:t>
            </a:r>
            <a:endParaRPr lang="en-US" sz="2025" dirty="0"/>
          </a:p>
        </p:txBody>
      </p:sp>
      <p:sp>
        <p:nvSpPr>
          <p:cNvPr id="24" name="Text 22"/>
          <p:cNvSpPr/>
          <p:nvPr/>
        </p:nvSpPr>
        <p:spPr>
          <a:xfrm>
            <a:off x="8974085" y="4172190"/>
            <a:ext cx="681893" cy="3262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Bikes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15031265" y="4172190"/>
            <a:ext cx="2106781" cy="3502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33.2% · 3,009 orders</a:t>
            </a:r>
            <a:endParaRPr lang="en-US" sz="1725" dirty="0"/>
          </a:p>
        </p:txBody>
      </p:sp>
      <p:sp>
        <p:nvSpPr>
          <p:cNvPr id="26" name="Shape 24"/>
          <p:cNvSpPr/>
          <p:nvPr/>
        </p:nvSpPr>
        <p:spPr>
          <a:xfrm>
            <a:off x="8974085" y="4579529"/>
            <a:ext cx="7972434" cy="285650"/>
          </a:xfrm>
          <a:prstGeom prst="rect">
            <a:avLst/>
          </a:prstGeom>
          <a:solidFill>
            <a:srgbClr val="EEF1F0"/>
          </a:solidFill>
          <a:ln/>
        </p:spPr>
      </p:sp>
      <p:sp>
        <p:nvSpPr>
          <p:cNvPr id="27" name="Shape 25"/>
          <p:cNvSpPr/>
          <p:nvPr/>
        </p:nvSpPr>
        <p:spPr>
          <a:xfrm>
            <a:off x="8974085" y="4579529"/>
            <a:ext cx="7972434" cy="285650"/>
          </a:xfrm>
          <a:prstGeom prst="rect">
            <a:avLst/>
          </a:prstGeom>
          <a:gradFill rotWithShape="1">
            <a:gsLst>
              <a:gs pos="0">
                <a:srgbClr val="0F6C4A">
                  <a:alpha val="100000"/>
                </a:srgbClr>
              </a:gs>
              <a:gs pos="100000">
                <a:srgbClr val="22A876">
                  <a:alpha val="100000"/>
                </a:srgbClr>
              </a:gs>
            </a:gsLst>
            <a:lin ang="0" scaled="0"/>
          </a:gradFill>
          <a:ln/>
        </p:spPr>
      </p:sp>
      <p:sp>
        <p:nvSpPr>
          <p:cNvPr id="28" name="Text 26"/>
          <p:cNvSpPr/>
          <p:nvPr/>
        </p:nvSpPr>
        <p:spPr>
          <a:xfrm>
            <a:off x="8974085" y="5150829"/>
            <a:ext cx="1544661" cy="3262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Components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15031265" y="5150829"/>
            <a:ext cx="2106781" cy="3502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27.6% · 2,505 orders</a:t>
            </a:r>
            <a:endParaRPr lang="en-US" sz="1725" dirty="0"/>
          </a:p>
        </p:txBody>
      </p:sp>
      <p:sp>
        <p:nvSpPr>
          <p:cNvPr id="30" name="Shape 28"/>
          <p:cNvSpPr/>
          <p:nvPr/>
        </p:nvSpPr>
        <p:spPr>
          <a:xfrm>
            <a:off x="8974085" y="5558167"/>
            <a:ext cx="7972434" cy="285650"/>
          </a:xfrm>
          <a:prstGeom prst="rect">
            <a:avLst/>
          </a:prstGeom>
          <a:solidFill>
            <a:srgbClr val="EEF1F0"/>
          </a:solidFill>
          <a:ln/>
        </p:spPr>
      </p:sp>
      <p:sp>
        <p:nvSpPr>
          <p:cNvPr id="31" name="Shape 29"/>
          <p:cNvSpPr/>
          <p:nvPr/>
        </p:nvSpPr>
        <p:spPr>
          <a:xfrm>
            <a:off x="8974085" y="5558167"/>
            <a:ext cx="6624977" cy="285650"/>
          </a:xfrm>
          <a:prstGeom prst="rect">
            <a:avLst/>
          </a:prstGeom>
          <a:gradFill rotWithShape="1">
            <a:gsLst>
              <a:gs pos="0">
                <a:srgbClr val="2E6E9E">
                  <a:alpha val="100000"/>
                </a:srgbClr>
              </a:gs>
              <a:gs pos="100000">
                <a:srgbClr val="6FA3D4">
                  <a:alpha val="100000"/>
                </a:srgbClr>
              </a:gs>
            </a:gsLst>
            <a:lin ang="0" scaled="0"/>
          </a:gradFill>
          <a:ln/>
        </p:spPr>
      </p:sp>
      <p:sp>
        <p:nvSpPr>
          <p:cNvPr id="32" name="Text 30"/>
          <p:cNvSpPr/>
          <p:nvPr/>
        </p:nvSpPr>
        <p:spPr>
          <a:xfrm>
            <a:off x="8974085" y="6129467"/>
            <a:ext cx="984927" cy="3262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Clothing</a:t>
            </a:r>
            <a:endParaRPr lang="en-US" sz="1950" dirty="0"/>
          </a:p>
        </p:txBody>
      </p:sp>
      <p:sp>
        <p:nvSpPr>
          <p:cNvPr id="33" name="Text 31"/>
          <p:cNvSpPr/>
          <p:nvPr/>
        </p:nvSpPr>
        <p:spPr>
          <a:xfrm>
            <a:off x="15031265" y="6129467"/>
            <a:ext cx="2106781" cy="3502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25.4% · 2,299 orders</a:t>
            </a:r>
            <a:endParaRPr lang="en-US" sz="1725" dirty="0"/>
          </a:p>
        </p:txBody>
      </p:sp>
      <p:sp>
        <p:nvSpPr>
          <p:cNvPr id="34" name="Shape 32"/>
          <p:cNvSpPr/>
          <p:nvPr/>
        </p:nvSpPr>
        <p:spPr>
          <a:xfrm>
            <a:off x="8974085" y="6536806"/>
            <a:ext cx="7972434" cy="285650"/>
          </a:xfrm>
          <a:prstGeom prst="rect">
            <a:avLst/>
          </a:prstGeom>
          <a:solidFill>
            <a:srgbClr val="EEF1F0"/>
          </a:solidFill>
          <a:ln/>
        </p:spPr>
      </p:sp>
      <p:sp>
        <p:nvSpPr>
          <p:cNvPr id="35" name="Shape 33"/>
          <p:cNvSpPr/>
          <p:nvPr/>
        </p:nvSpPr>
        <p:spPr>
          <a:xfrm>
            <a:off x="8974085" y="6536806"/>
            <a:ext cx="6090822" cy="285650"/>
          </a:xfrm>
          <a:prstGeom prst="rect">
            <a:avLst/>
          </a:prstGeom>
          <a:gradFill rotWithShape="1">
            <a:gsLst>
              <a:gs pos="0">
                <a:srgbClr val="3E7FB8">
                  <a:alpha val="100000"/>
                </a:srgbClr>
              </a:gs>
              <a:gs pos="100000">
                <a:srgbClr val="8FB4DD">
                  <a:alpha val="100000"/>
                </a:srgbClr>
              </a:gs>
            </a:gsLst>
            <a:lin ang="0" scaled="0"/>
          </a:gradFill>
          <a:ln/>
        </p:spPr>
      </p:sp>
      <p:sp>
        <p:nvSpPr>
          <p:cNvPr id="36" name="Text 34"/>
          <p:cNvSpPr/>
          <p:nvPr/>
        </p:nvSpPr>
        <p:spPr>
          <a:xfrm>
            <a:off x="8974085" y="7108106"/>
            <a:ext cx="1468583" cy="3262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Accessories</a:t>
            </a:r>
            <a:endParaRPr lang="en-US" sz="1950" dirty="0"/>
          </a:p>
        </p:txBody>
      </p:sp>
      <p:sp>
        <p:nvSpPr>
          <p:cNvPr id="37" name="Text 35"/>
          <p:cNvSpPr/>
          <p:nvPr/>
        </p:nvSpPr>
        <p:spPr>
          <a:xfrm>
            <a:off x="15031265" y="7108106"/>
            <a:ext cx="2106781" cy="3502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13.8% · 1,249 orders</a:t>
            </a:r>
            <a:endParaRPr lang="en-US" sz="1725" dirty="0"/>
          </a:p>
        </p:txBody>
      </p:sp>
      <p:sp>
        <p:nvSpPr>
          <p:cNvPr id="38" name="Shape 36"/>
          <p:cNvSpPr/>
          <p:nvPr/>
        </p:nvSpPr>
        <p:spPr>
          <a:xfrm>
            <a:off x="8974085" y="7515445"/>
            <a:ext cx="7972434" cy="285650"/>
          </a:xfrm>
          <a:prstGeom prst="rect">
            <a:avLst/>
          </a:prstGeom>
          <a:solidFill>
            <a:srgbClr val="EEF1F0"/>
          </a:solidFill>
          <a:ln/>
        </p:spPr>
      </p:sp>
      <p:sp>
        <p:nvSpPr>
          <p:cNvPr id="39" name="Shape 37"/>
          <p:cNvSpPr/>
          <p:nvPr/>
        </p:nvSpPr>
        <p:spPr>
          <a:xfrm>
            <a:off x="8974085" y="7515445"/>
            <a:ext cx="3308486" cy="285650"/>
          </a:xfrm>
          <a:prstGeom prst="rect">
            <a:avLst/>
          </a:prstGeom>
          <a:gradFill rotWithShape="1">
            <a:gsLst>
              <a:gs pos="0">
                <a:srgbClr val="A9A9A3">
                  <a:alpha val="100000"/>
                </a:srgbClr>
              </a:gs>
              <a:gs pos="100000">
                <a:srgbClr val="CFCFC9">
                  <a:alpha val="100000"/>
                </a:srgbClr>
              </a:gs>
            </a:gsLst>
            <a:lin ang="0" scaled="0"/>
          </a:gra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185" y="-380950"/>
            <a:ext cx="1219140" cy="2190650"/>
          </a:xfrm>
          <a:prstGeom prst="rect">
            <a:avLst/>
          </a:prstGeom>
          <a:gradFill rotWithShape="1">
            <a:gsLst>
              <a:gs pos="0">
                <a:srgbClr val="1F9A66">
                  <a:alpha val="100000"/>
                </a:srgbClr>
              </a:gs>
              <a:gs pos="100000">
                <a:srgbClr val="0B5638">
                  <a:alpha val="100000"/>
                </a:srgbClr>
              </a:gs>
            </a:gsLst>
            <a:lin ang="4500000" scaled="0"/>
          </a:gradFill>
          <a:ln/>
        </p:spPr>
      </p:sp>
      <p:sp>
        <p:nvSpPr>
          <p:cNvPr id="3" name="Shape 1"/>
          <p:cNvSpPr/>
          <p:nvPr/>
        </p:nvSpPr>
        <p:spPr>
          <a:xfrm>
            <a:off x="742890" y="-380950"/>
            <a:ext cx="990520" cy="2362115"/>
          </a:xfrm>
          <a:prstGeom prst="rect">
            <a:avLst/>
          </a:prstGeom>
          <a:gradFill rotWithShape="1">
            <a:gsLst>
              <a:gs pos="0">
                <a:srgbClr val="D9564F">
                  <a:alpha val="100000"/>
                </a:srgbClr>
              </a:gs>
              <a:gs pos="100000">
                <a:srgbClr val="A82C28">
                  <a:alpha val="100000"/>
                </a:srgbClr>
              </a:gs>
            </a:gsLst>
            <a:lin ang="4500000" scaled="0"/>
          </a:gradFill>
          <a:ln/>
        </p:spPr>
      </p:sp>
      <p:sp>
        <p:nvSpPr>
          <p:cNvPr id="4" name="Text 2"/>
          <p:cNvSpPr/>
          <p:nvPr/>
        </p:nvSpPr>
        <p:spPr>
          <a:xfrm>
            <a:off x="91392" y="742890"/>
            <a:ext cx="18105190" cy="5903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375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Order Trend — </a:t>
            </a:r>
            <a:r>
              <a:rPr lang="en-US" sz="3750" b="1" dirty="0">
                <a:solidFill>
                  <a:srgbClr val="5B8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 Growth 2017–2020</a:t>
            </a:r>
            <a:endParaRPr lang="en-US" sz="3750" dirty="0"/>
          </a:p>
        </p:txBody>
      </p:sp>
      <p:sp>
        <p:nvSpPr>
          <p:cNvPr id="5" name="Shape 3"/>
          <p:cNvSpPr/>
          <p:nvPr/>
        </p:nvSpPr>
        <p:spPr>
          <a:xfrm>
            <a:off x="914355" y="1714275"/>
            <a:ext cx="16459264" cy="6301683"/>
          </a:xfrm>
          <a:prstGeom prst="rect">
            <a:avLst/>
          </a:prstGeom>
          <a:solidFill>
            <a:srgbClr val="FFFFFF"/>
          </a:solidFill>
          <a:ln w="8004">
            <a:solidFill>
              <a:srgbClr val="E2E2DE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79474" y="2103229"/>
            <a:ext cx="15529025" cy="518959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69949" y="7426148"/>
            <a:ext cx="492794" cy="334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2017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6480402" y="7426148"/>
            <a:ext cx="492794" cy="334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2018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11390979" y="7426148"/>
            <a:ext cx="492794" cy="334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2019</a:t>
            </a:r>
            <a:endParaRPr lang="en-US" sz="1650" dirty="0"/>
          </a:p>
        </p:txBody>
      </p:sp>
      <p:sp>
        <p:nvSpPr>
          <p:cNvPr id="10" name="Text 7"/>
          <p:cNvSpPr/>
          <p:nvPr/>
        </p:nvSpPr>
        <p:spPr>
          <a:xfrm>
            <a:off x="16301432" y="7426148"/>
            <a:ext cx="492794" cy="334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650" dirty="0"/>
          </a:p>
        </p:txBody>
      </p:sp>
      <p:sp>
        <p:nvSpPr>
          <p:cNvPr id="11" name="Shape 8"/>
          <p:cNvSpPr/>
          <p:nvPr/>
        </p:nvSpPr>
        <p:spPr>
          <a:xfrm>
            <a:off x="914355" y="8282597"/>
            <a:ext cx="3943445" cy="133757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9"/>
          <p:cNvSpPr/>
          <p:nvPr/>
        </p:nvSpPr>
        <p:spPr>
          <a:xfrm>
            <a:off x="914355" y="9612170"/>
            <a:ext cx="3943445" cy="9525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13" name="Shape 10"/>
          <p:cNvSpPr/>
          <p:nvPr/>
        </p:nvSpPr>
        <p:spPr>
          <a:xfrm>
            <a:off x="914355" y="8282597"/>
            <a:ext cx="3943445" cy="32017"/>
          </a:xfrm>
          <a:prstGeom prst="rect">
            <a:avLst/>
          </a:prstGeom>
          <a:solidFill>
            <a:srgbClr val="17835A"/>
          </a:solidFill>
          <a:ln/>
        </p:spPr>
      </p:sp>
      <p:sp>
        <p:nvSpPr>
          <p:cNvPr id="14" name="Shape 11"/>
          <p:cNvSpPr/>
          <p:nvPr/>
        </p:nvSpPr>
        <p:spPr>
          <a:xfrm>
            <a:off x="914355" y="8282597"/>
            <a:ext cx="9525" cy="1337577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15" name="Shape 12"/>
          <p:cNvSpPr/>
          <p:nvPr/>
        </p:nvSpPr>
        <p:spPr>
          <a:xfrm>
            <a:off x="4849796" y="8282597"/>
            <a:ext cx="9525" cy="1337577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16" name="Text 13"/>
          <p:cNvSpPr/>
          <p:nvPr/>
        </p:nvSpPr>
        <p:spPr>
          <a:xfrm>
            <a:off x="1188999" y="8543109"/>
            <a:ext cx="3733572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232"/>
              </a:lnSpc>
              <a:buNone/>
            </a:pPr>
            <a:r>
              <a:rPr lang="en-US" sz="3750" b="1" dirty="0">
                <a:solidFill>
                  <a:srgbClr val="178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+260%</a:t>
            </a:r>
            <a:endParaRPr lang="en-US" sz="3750" dirty="0"/>
          </a:p>
        </p:txBody>
      </p:sp>
      <p:sp>
        <p:nvSpPr>
          <p:cNvPr id="17" name="Text 14"/>
          <p:cNvSpPr/>
          <p:nvPr/>
        </p:nvSpPr>
        <p:spPr>
          <a:xfrm>
            <a:off x="1188999" y="9095524"/>
            <a:ext cx="3733572" cy="3262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growth 2017 → 2020</a:t>
            </a:r>
            <a:endParaRPr lang="en-US" sz="1575" dirty="0"/>
          </a:p>
        </p:txBody>
      </p:sp>
      <p:sp>
        <p:nvSpPr>
          <p:cNvPr id="18" name="Shape 15"/>
          <p:cNvSpPr/>
          <p:nvPr/>
        </p:nvSpPr>
        <p:spPr>
          <a:xfrm>
            <a:off x="5086295" y="8282597"/>
            <a:ext cx="3943445" cy="133757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hape 16"/>
          <p:cNvSpPr/>
          <p:nvPr/>
        </p:nvSpPr>
        <p:spPr>
          <a:xfrm>
            <a:off x="5086295" y="9612170"/>
            <a:ext cx="3943445" cy="9525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20" name="Shape 17"/>
          <p:cNvSpPr/>
          <p:nvPr/>
        </p:nvSpPr>
        <p:spPr>
          <a:xfrm>
            <a:off x="5086295" y="8282597"/>
            <a:ext cx="3943445" cy="32017"/>
          </a:xfrm>
          <a:prstGeom prst="rect">
            <a:avLst/>
          </a:prstGeom>
          <a:solidFill>
            <a:srgbClr val="9FC0E0"/>
          </a:solidFill>
          <a:ln/>
        </p:spPr>
      </p:sp>
      <p:sp>
        <p:nvSpPr>
          <p:cNvPr id="21" name="Shape 18"/>
          <p:cNvSpPr/>
          <p:nvPr/>
        </p:nvSpPr>
        <p:spPr>
          <a:xfrm>
            <a:off x="5086295" y="8282597"/>
            <a:ext cx="9525" cy="1337577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22" name="Shape 19"/>
          <p:cNvSpPr/>
          <p:nvPr/>
        </p:nvSpPr>
        <p:spPr>
          <a:xfrm>
            <a:off x="9021735" y="8282597"/>
            <a:ext cx="9525" cy="1337577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23" name="Text 20"/>
          <p:cNvSpPr/>
          <p:nvPr/>
        </p:nvSpPr>
        <p:spPr>
          <a:xfrm>
            <a:off x="5360939" y="8543109"/>
            <a:ext cx="3733572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232"/>
              </a:lnSpc>
              <a:buNone/>
            </a:pPr>
            <a:r>
              <a:rPr lang="en-US" sz="375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</a:t>
            </a:r>
            <a:r>
              <a:rPr lang="en-US" sz="1950" b="1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/mo</a:t>
            </a:r>
            <a:endParaRPr lang="en-US" sz="3750" dirty="0"/>
          </a:p>
        </p:txBody>
      </p:sp>
      <p:sp>
        <p:nvSpPr>
          <p:cNvPr id="24" name="Text 21"/>
          <p:cNvSpPr/>
          <p:nvPr/>
        </p:nvSpPr>
        <p:spPr>
          <a:xfrm>
            <a:off x="5360939" y="9095524"/>
            <a:ext cx="3733572" cy="3262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mid-2017 starting point</a:t>
            </a:r>
            <a:endParaRPr lang="en-US" sz="1575" dirty="0"/>
          </a:p>
        </p:txBody>
      </p:sp>
      <p:sp>
        <p:nvSpPr>
          <p:cNvPr id="25" name="Shape 22"/>
          <p:cNvSpPr/>
          <p:nvPr/>
        </p:nvSpPr>
        <p:spPr>
          <a:xfrm>
            <a:off x="9258234" y="8282597"/>
            <a:ext cx="3943445" cy="133757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3"/>
          <p:cNvSpPr/>
          <p:nvPr/>
        </p:nvSpPr>
        <p:spPr>
          <a:xfrm>
            <a:off x="9258234" y="9612170"/>
            <a:ext cx="3943445" cy="9525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27" name="Shape 24"/>
          <p:cNvSpPr/>
          <p:nvPr/>
        </p:nvSpPr>
        <p:spPr>
          <a:xfrm>
            <a:off x="9258234" y="8282597"/>
            <a:ext cx="3943445" cy="32017"/>
          </a:xfrm>
          <a:prstGeom prst="rect">
            <a:avLst/>
          </a:prstGeom>
          <a:solidFill>
            <a:srgbClr val="5B8CC4"/>
          </a:solidFill>
          <a:ln/>
        </p:spPr>
      </p:sp>
      <p:sp>
        <p:nvSpPr>
          <p:cNvPr id="28" name="Shape 25"/>
          <p:cNvSpPr/>
          <p:nvPr/>
        </p:nvSpPr>
        <p:spPr>
          <a:xfrm>
            <a:off x="9258234" y="8282597"/>
            <a:ext cx="9525" cy="1337577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29" name="Shape 26"/>
          <p:cNvSpPr/>
          <p:nvPr/>
        </p:nvSpPr>
        <p:spPr>
          <a:xfrm>
            <a:off x="13193675" y="8282597"/>
            <a:ext cx="9525" cy="1337577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30" name="Text 27"/>
          <p:cNvSpPr/>
          <p:nvPr/>
        </p:nvSpPr>
        <p:spPr>
          <a:xfrm>
            <a:off x="9532879" y="8543109"/>
            <a:ext cx="3733572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232"/>
              </a:lnSpc>
              <a:buNone/>
            </a:pPr>
            <a:r>
              <a:rPr lang="en-US" sz="3750" b="1" dirty="0">
                <a:solidFill>
                  <a:srgbClr val="5B8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~185</a:t>
            </a:r>
            <a:r>
              <a:rPr lang="en-US" sz="1950" b="1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/mo</a:t>
            </a:r>
            <a:endParaRPr lang="en-US" sz="3750" dirty="0"/>
          </a:p>
        </p:txBody>
      </p:sp>
      <p:sp>
        <p:nvSpPr>
          <p:cNvPr id="31" name="Text 28"/>
          <p:cNvSpPr/>
          <p:nvPr/>
        </p:nvSpPr>
        <p:spPr>
          <a:xfrm>
            <a:off x="9532879" y="9095524"/>
            <a:ext cx="3733572" cy="3262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late-2020 peak</a:t>
            </a:r>
            <a:endParaRPr lang="en-US" sz="1575" dirty="0"/>
          </a:p>
        </p:txBody>
      </p:sp>
      <p:sp>
        <p:nvSpPr>
          <p:cNvPr id="32" name="Shape 29"/>
          <p:cNvSpPr/>
          <p:nvPr/>
        </p:nvSpPr>
        <p:spPr>
          <a:xfrm>
            <a:off x="13430174" y="8282597"/>
            <a:ext cx="3943445" cy="133757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Shape 30"/>
          <p:cNvSpPr/>
          <p:nvPr/>
        </p:nvSpPr>
        <p:spPr>
          <a:xfrm>
            <a:off x="13430174" y="9612170"/>
            <a:ext cx="3943445" cy="9525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34" name="Shape 31"/>
          <p:cNvSpPr/>
          <p:nvPr/>
        </p:nvSpPr>
        <p:spPr>
          <a:xfrm>
            <a:off x="13430174" y="8282597"/>
            <a:ext cx="3943445" cy="32017"/>
          </a:xfrm>
          <a:prstGeom prst="rect">
            <a:avLst/>
          </a:prstGeom>
          <a:solidFill>
            <a:srgbClr val="C43B3B"/>
          </a:solidFill>
          <a:ln/>
        </p:spPr>
      </p:sp>
      <p:sp>
        <p:nvSpPr>
          <p:cNvPr id="35" name="Shape 32"/>
          <p:cNvSpPr/>
          <p:nvPr/>
        </p:nvSpPr>
        <p:spPr>
          <a:xfrm>
            <a:off x="13430174" y="8282597"/>
            <a:ext cx="9525" cy="1337577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36" name="Shape 33"/>
          <p:cNvSpPr/>
          <p:nvPr/>
        </p:nvSpPr>
        <p:spPr>
          <a:xfrm>
            <a:off x="17365615" y="8282597"/>
            <a:ext cx="9525" cy="1337577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37" name="Text 34"/>
          <p:cNvSpPr/>
          <p:nvPr/>
        </p:nvSpPr>
        <p:spPr>
          <a:xfrm>
            <a:off x="13704818" y="8543109"/>
            <a:ext cx="3733572" cy="4543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6"/>
              </a:lnSpc>
              <a:buNone/>
            </a:pPr>
            <a:r>
              <a:rPr lang="en-US" sz="285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</a:t>
            </a:r>
            <a:endParaRPr lang="en-US" sz="2850" dirty="0"/>
          </a:p>
        </p:txBody>
      </p:sp>
      <p:sp>
        <p:nvSpPr>
          <p:cNvPr id="38" name="Text 35"/>
          <p:cNvSpPr/>
          <p:nvPr/>
        </p:nvSpPr>
        <p:spPr>
          <a:xfrm>
            <a:off x="13704818" y="9035493"/>
            <a:ext cx="3733572" cy="3262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upward trend — no plateau</a:t>
            </a:r>
            <a:endParaRPr lang="en-US" sz="157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185" y="-380950"/>
            <a:ext cx="1219140" cy="2190650"/>
          </a:xfrm>
          <a:prstGeom prst="rect">
            <a:avLst/>
          </a:prstGeom>
          <a:gradFill rotWithShape="1">
            <a:gsLst>
              <a:gs pos="0">
                <a:srgbClr val="1F9A66">
                  <a:alpha val="100000"/>
                </a:srgbClr>
              </a:gs>
              <a:gs pos="100000">
                <a:srgbClr val="0B5638">
                  <a:alpha val="100000"/>
                </a:srgbClr>
              </a:gs>
            </a:gsLst>
            <a:lin ang="4500000" scaled="0"/>
          </a:gradFill>
          <a:ln/>
        </p:spPr>
      </p:sp>
      <p:sp>
        <p:nvSpPr>
          <p:cNvPr id="3" name="Shape 1"/>
          <p:cNvSpPr/>
          <p:nvPr/>
        </p:nvSpPr>
        <p:spPr>
          <a:xfrm>
            <a:off x="742890" y="-380950"/>
            <a:ext cx="990520" cy="2362115"/>
          </a:xfrm>
          <a:prstGeom prst="rect">
            <a:avLst/>
          </a:prstGeom>
          <a:gradFill rotWithShape="1">
            <a:gsLst>
              <a:gs pos="0">
                <a:srgbClr val="D9564F">
                  <a:alpha val="100000"/>
                </a:srgbClr>
              </a:gs>
              <a:gs pos="100000">
                <a:srgbClr val="A82C28">
                  <a:alpha val="100000"/>
                </a:srgbClr>
              </a:gs>
            </a:gsLst>
            <a:lin ang="4500000" scaled="0"/>
          </a:gradFill>
          <a:ln/>
        </p:spPr>
      </p:sp>
      <p:sp>
        <p:nvSpPr>
          <p:cNvPr id="4" name="Text 2"/>
          <p:cNvSpPr/>
          <p:nvPr/>
        </p:nvSpPr>
        <p:spPr>
          <a:xfrm>
            <a:off x="91392" y="742890"/>
            <a:ext cx="18105190" cy="5903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375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Salesperson Performance &amp; </a:t>
            </a:r>
            <a:r>
              <a:rPr lang="en-US" sz="3750" b="1" dirty="0">
                <a:solidFill>
                  <a:srgbClr val="5B8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Reseller Coverage</a:t>
            </a:r>
            <a:endParaRPr lang="en-US" sz="3750" dirty="0"/>
          </a:p>
        </p:txBody>
      </p:sp>
      <p:sp>
        <p:nvSpPr>
          <p:cNvPr id="5" name="Shape 3"/>
          <p:cNvSpPr/>
          <p:nvPr/>
        </p:nvSpPr>
        <p:spPr>
          <a:xfrm>
            <a:off x="914355" y="1676130"/>
            <a:ext cx="7256309" cy="7982190"/>
          </a:xfrm>
          <a:prstGeom prst="rect">
            <a:avLst/>
          </a:prstGeom>
          <a:solidFill>
            <a:srgbClr val="FFFFFF"/>
          </a:solidFill>
          <a:ln w="8004">
            <a:solidFill>
              <a:srgbClr val="E2E2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03309" y="2007929"/>
            <a:ext cx="7126241" cy="334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Salespersons by Orders</a:t>
            </a:r>
            <a:endParaRPr lang="en-US" sz="2025" dirty="0"/>
          </a:p>
        </p:txBody>
      </p:sp>
      <p:sp>
        <p:nvSpPr>
          <p:cNvPr id="7" name="Text 5"/>
          <p:cNvSpPr/>
          <p:nvPr/>
        </p:nvSpPr>
        <p:spPr>
          <a:xfrm>
            <a:off x="1303309" y="4255609"/>
            <a:ext cx="2409715" cy="2942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Tsvi Reiter</a:t>
            </a:r>
            <a:endParaRPr lang="en-US" sz="1725" dirty="0"/>
          </a:p>
        </p:txBody>
      </p:sp>
      <p:sp>
        <p:nvSpPr>
          <p:cNvPr id="8" name="Shape 6"/>
          <p:cNvSpPr/>
          <p:nvPr/>
        </p:nvSpPr>
        <p:spPr>
          <a:xfrm>
            <a:off x="3665299" y="4259861"/>
            <a:ext cx="3278346" cy="247630"/>
          </a:xfrm>
          <a:prstGeom prst="rect">
            <a:avLst/>
          </a:prstGeom>
          <a:solidFill>
            <a:srgbClr val="EEF1F0"/>
          </a:solidFill>
          <a:ln/>
        </p:spPr>
      </p:sp>
      <p:sp>
        <p:nvSpPr>
          <p:cNvPr id="9" name="Shape 7"/>
          <p:cNvSpPr/>
          <p:nvPr/>
        </p:nvSpPr>
        <p:spPr>
          <a:xfrm>
            <a:off x="3665299" y="4259861"/>
            <a:ext cx="3278346" cy="247630"/>
          </a:xfrm>
          <a:prstGeom prst="rect">
            <a:avLst/>
          </a:prstGeom>
          <a:gradFill rotWithShape="1">
            <a:gsLst>
              <a:gs pos="0">
                <a:srgbClr val="0F6C4A">
                  <a:alpha val="100000"/>
                </a:srgbClr>
              </a:gs>
              <a:gs pos="100000">
                <a:srgbClr val="22A876">
                  <a:alpha val="100000"/>
                </a:srgbClr>
              </a:gs>
            </a:gsLst>
            <a:lin ang="0" scaled="0"/>
          </a:gradFill>
          <a:ln/>
        </p:spPr>
      </p:sp>
      <p:sp>
        <p:nvSpPr>
          <p:cNvPr id="10" name="Text 8"/>
          <p:cNvSpPr/>
          <p:nvPr/>
        </p:nvSpPr>
        <p:spPr>
          <a:xfrm>
            <a:off x="7038784" y="4255609"/>
            <a:ext cx="742925" cy="2942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725" b="1" dirty="0">
                <a:solidFill>
                  <a:srgbClr val="178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430</a:t>
            </a:r>
            <a:endParaRPr lang="en-US" sz="1725" dirty="0"/>
          </a:p>
        </p:txBody>
      </p:sp>
      <p:sp>
        <p:nvSpPr>
          <p:cNvPr id="11" name="Text 9"/>
          <p:cNvSpPr/>
          <p:nvPr/>
        </p:nvSpPr>
        <p:spPr>
          <a:xfrm>
            <a:off x="1303309" y="4721228"/>
            <a:ext cx="2409715" cy="3502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Linda Mitchell</a:t>
            </a:r>
            <a:endParaRPr lang="en-US" sz="1725" dirty="0"/>
          </a:p>
        </p:txBody>
      </p:sp>
      <p:sp>
        <p:nvSpPr>
          <p:cNvPr id="12" name="Shape 10"/>
          <p:cNvSpPr/>
          <p:nvPr/>
        </p:nvSpPr>
        <p:spPr>
          <a:xfrm>
            <a:off x="3665299" y="4753495"/>
            <a:ext cx="3278346" cy="247630"/>
          </a:xfrm>
          <a:prstGeom prst="rect">
            <a:avLst/>
          </a:prstGeom>
          <a:solidFill>
            <a:srgbClr val="EEF1F0"/>
          </a:solidFill>
          <a:ln/>
        </p:spPr>
      </p:sp>
      <p:sp>
        <p:nvSpPr>
          <p:cNvPr id="13" name="Shape 11"/>
          <p:cNvSpPr/>
          <p:nvPr/>
        </p:nvSpPr>
        <p:spPr>
          <a:xfrm>
            <a:off x="3665299" y="4753495"/>
            <a:ext cx="2363616" cy="247630"/>
          </a:xfrm>
          <a:prstGeom prst="rect">
            <a:avLst/>
          </a:prstGeom>
          <a:gradFill rotWithShape="1">
            <a:gsLst>
              <a:gs pos="0">
                <a:srgbClr val="3E7FB8">
                  <a:alpha val="100000"/>
                </a:srgbClr>
              </a:gs>
              <a:gs pos="100000">
                <a:srgbClr val="6FA3D4">
                  <a:alpha val="100000"/>
                </a:srgbClr>
              </a:gs>
            </a:gsLst>
            <a:lin ang="0" scaled="0"/>
          </a:gradFill>
          <a:ln/>
        </p:spPr>
      </p:sp>
      <p:sp>
        <p:nvSpPr>
          <p:cNvPr id="14" name="Text 12"/>
          <p:cNvSpPr/>
          <p:nvPr/>
        </p:nvSpPr>
        <p:spPr>
          <a:xfrm>
            <a:off x="7038784" y="4721228"/>
            <a:ext cx="742925" cy="3502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725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310</a:t>
            </a:r>
            <a:endParaRPr lang="en-US" sz="1725" dirty="0"/>
          </a:p>
        </p:txBody>
      </p:sp>
      <p:sp>
        <p:nvSpPr>
          <p:cNvPr id="15" name="Text 13"/>
          <p:cNvSpPr/>
          <p:nvPr/>
        </p:nvSpPr>
        <p:spPr>
          <a:xfrm>
            <a:off x="1303309" y="5242877"/>
            <a:ext cx="2409715" cy="3502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Jae Pak</a:t>
            </a:r>
            <a:endParaRPr lang="en-US" sz="1725" dirty="0"/>
          </a:p>
        </p:txBody>
      </p:sp>
      <p:sp>
        <p:nvSpPr>
          <p:cNvPr id="16" name="Shape 14"/>
          <p:cNvSpPr/>
          <p:nvPr/>
        </p:nvSpPr>
        <p:spPr>
          <a:xfrm>
            <a:off x="3665299" y="5275144"/>
            <a:ext cx="3278346" cy="247630"/>
          </a:xfrm>
          <a:prstGeom prst="rect">
            <a:avLst/>
          </a:prstGeom>
          <a:solidFill>
            <a:srgbClr val="EEF1F0"/>
          </a:solidFill>
          <a:ln/>
        </p:spPr>
      </p:sp>
      <p:sp>
        <p:nvSpPr>
          <p:cNvPr id="17" name="Shape 15"/>
          <p:cNvSpPr/>
          <p:nvPr/>
        </p:nvSpPr>
        <p:spPr>
          <a:xfrm>
            <a:off x="3665299" y="5275144"/>
            <a:ext cx="2248930" cy="247630"/>
          </a:xfrm>
          <a:prstGeom prst="rect">
            <a:avLst/>
          </a:prstGeom>
          <a:gradFill rotWithShape="1">
            <a:gsLst>
              <a:gs pos="0">
                <a:srgbClr val="3E7FB8">
                  <a:alpha val="100000"/>
                </a:srgbClr>
              </a:gs>
              <a:gs pos="100000">
                <a:srgbClr val="6FA3D4">
                  <a:alpha val="100000"/>
                </a:srgbClr>
              </a:gs>
            </a:gsLst>
            <a:lin ang="0" scaled="0"/>
          </a:gradFill>
          <a:ln/>
        </p:spPr>
      </p:sp>
      <p:sp>
        <p:nvSpPr>
          <p:cNvPr id="18" name="Text 16"/>
          <p:cNvSpPr/>
          <p:nvPr/>
        </p:nvSpPr>
        <p:spPr>
          <a:xfrm>
            <a:off x="7038784" y="5242877"/>
            <a:ext cx="742925" cy="3502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725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295</a:t>
            </a:r>
            <a:endParaRPr lang="en-US" sz="1725" dirty="0"/>
          </a:p>
        </p:txBody>
      </p:sp>
      <p:sp>
        <p:nvSpPr>
          <p:cNvPr id="19" name="Text 17"/>
          <p:cNvSpPr/>
          <p:nvPr/>
        </p:nvSpPr>
        <p:spPr>
          <a:xfrm>
            <a:off x="1303309" y="5764525"/>
            <a:ext cx="2409715" cy="3502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Jillian Carson</a:t>
            </a:r>
            <a:endParaRPr lang="en-US" sz="1725" dirty="0"/>
          </a:p>
        </p:txBody>
      </p:sp>
      <p:sp>
        <p:nvSpPr>
          <p:cNvPr id="20" name="Shape 18"/>
          <p:cNvSpPr/>
          <p:nvPr/>
        </p:nvSpPr>
        <p:spPr>
          <a:xfrm>
            <a:off x="3665299" y="5796793"/>
            <a:ext cx="3278346" cy="247630"/>
          </a:xfrm>
          <a:prstGeom prst="rect">
            <a:avLst/>
          </a:prstGeom>
          <a:solidFill>
            <a:srgbClr val="EEF1F0"/>
          </a:solidFill>
          <a:ln/>
        </p:spPr>
      </p:sp>
      <p:sp>
        <p:nvSpPr>
          <p:cNvPr id="21" name="Shape 19"/>
          <p:cNvSpPr/>
          <p:nvPr/>
        </p:nvSpPr>
        <p:spPr>
          <a:xfrm>
            <a:off x="3665299" y="5796793"/>
            <a:ext cx="1678506" cy="247630"/>
          </a:xfrm>
          <a:prstGeom prst="rect">
            <a:avLst/>
          </a:prstGeom>
          <a:gradFill rotWithShape="1">
            <a:gsLst>
              <a:gs pos="0">
                <a:srgbClr val="3E7FB8">
                  <a:alpha val="100000"/>
                </a:srgbClr>
              </a:gs>
              <a:gs pos="100000">
                <a:srgbClr val="6FA3D4">
                  <a:alpha val="100000"/>
                </a:srgbClr>
              </a:gs>
            </a:gsLst>
            <a:lin ang="0" scaled="0"/>
          </a:gradFill>
          <a:ln/>
        </p:spPr>
      </p:sp>
      <p:sp>
        <p:nvSpPr>
          <p:cNvPr id="22" name="Text 20"/>
          <p:cNvSpPr/>
          <p:nvPr/>
        </p:nvSpPr>
        <p:spPr>
          <a:xfrm>
            <a:off x="7038784" y="5764525"/>
            <a:ext cx="742925" cy="3502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725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220</a:t>
            </a:r>
            <a:endParaRPr lang="en-US" sz="1725" dirty="0"/>
          </a:p>
        </p:txBody>
      </p:sp>
      <p:sp>
        <p:nvSpPr>
          <p:cNvPr id="23" name="Text 21"/>
          <p:cNvSpPr/>
          <p:nvPr/>
        </p:nvSpPr>
        <p:spPr>
          <a:xfrm>
            <a:off x="1303309" y="6286174"/>
            <a:ext cx="2409715" cy="3502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Michael Blythe</a:t>
            </a:r>
            <a:endParaRPr lang="en-US" sz="1725" dirty="0"/>
          </a:p>
        </p:txBody>
      </p:sp>
      <p:sp>
        <p:nvSpPr>
          <p:cNvPr id="24" name="Shape 22"/>
          <p:cNvSpPr/>
          <p:nvPr/>
        </p:nvSpPr>
        <p:spPr>
          <a:xfrm>
            <a:off x="3665299" y="6318442"/>
            <a:ext cx="3278346" cy="247630"/>
          </a:xfrm>
          <a:prstGeom prst="rect">
            <a:avLst/>
          </a:prstGeom>
          <a:solidFill>
            <a:srgbClr val="EEF1F0"/>
          </a:solidFill>
          <a:ln/>
        </p:spPr>
      </p:sp>
      <p:sp>
        <p:nvSpPr>
          <p:cNvPr id="25" name="Shape 23"/>
          <p:cNvSpPr/>
          <p:nvPr/>
        </p:nvSpPr>
        <p:spPr>
          <a:xfrm>
            <a:off x="3665299" y="6318442"/>
            <a:ext cx="1373596" cy="247630"/>
          </a:xfrm>
          <a:prstGeom prst="rect">
            <a:avLst/>
          </a:prstGeom>
          <a:gradFill rotWithShape="1">
            <a:gsLst>
              <a:gs pos="0">
                <a:srgbClr val="A9A9A3">
                  <a:alpha val="100000"/>
                </a:srgbClr>
              </a:gs>
              <a:gs pos="100000">
                <a:srgbClr val="CFCFC9">
                  <a:alpha val="100000"/>
                </a:srgbClr>
              </a:gs>
            </a:gsLst>
            <a:lin ang="0" scaled="0"/>
          </a:gradFill>
          <a:ln/>
        </p:spPr>
      </p:sp>
      <p:sp>
        <p:nvSpPr>
          <p:cNvPr id="26" name="Text 24"/>
          <p:cNvSpPr/>
          <p:nvPr/>
        </p:nvSpPr>
        <p:spPr>
          <a:xfrm>
            <a:off x="7038784" y="6286174"/>
            <a:ext cx="742925" cy="3502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725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</a:t>
            </a:r>
            <a:endParaRPr lang="en-US" sz="1725" dirty="0"/>
          </a:p>
        </p:txBody>
      </p:sp>
      <p:sp>
        <p:nvSpPr>
          <p:cNvPr id="27" name="Text 25"/>
          <p:cNvSpPr/>
          <p:nvPr/>
        </p:nvSpPr>
        <p:spPr>
          <a:xfrm>
            <a:off x="1303309" y="6807823"/>
            <a:ext cx="2409715" cy="3502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Garrett Vargas</a:t>
            </a:r>
            <a:endParaRPr lang="en-US" sz="1725" dirty="0"/>
          </a:p>
        </p:txBody>
      </p:sp>
      <p:sp>
        <p:nvSpPr>
          <p:cNvPr id="28" name="Shape 26"/>
          <p:cNvSpPr/>
          <p:nvPr/>
        </p:nvSpPr>
        <p:spPr>
          <a:xfrm>
            <a:off x="3665299" y="6840090"/>
            <a:ext cx="3278346" cy="247630"/>
          </a:xfrm>
          <a:prstGeom prst="rect">
            <a:avLst/>
          </a:prstGeom>
          <a:solidFill>
            <a:srgbClr val="EEF1F0"/>
          </a:solidFill>
          <a:ln/>
        </p:spPr>
      </p:sp>
      <p:sp>
        <p:nvSpPr>
          <p:cNvPr id="29" name="Shape 27"/>
          <p:cNvSpPr/>
          <p:nvPr/>
        </p:nvSpPr>
        <p:spPr>
          <a:xfrm>
            <a:off x="3665299" y="6840090"/>
            <a:ext cx="1334200" cy="247630"/>
          </a:xfrm>
          <a:prstGeom prst="rect">
            <a:avLst/>
          </a:prstGeom>
          <a:gradFill rotWithShape="1">
            <a:gsLst>
              <a:gs pos="0">
                <a:srgbClr val="A9A9A3">
                  <a:alpha val="100000"/>
                </a:srgbClr>
              </a:gs>
              <a:gs pos="100000">
                <a:srgbClr val="CFCFC9">
                  <a:alpha val="100000"/>
                </a:srgbClr>
              </a:gs>
            </a:gsLst>
            <a:lin ang="0" scaled="0"/>
          </a:gradFill>
          <a:ln/>
        </p:spPr>
      </p:sp>
      <p:sp>
        <p:nvSpPr>
          <p:cNvPr id="30" name="Text 28"/>
          <p:cNvSpPr/>
          <p:nvPr/>
        </p:nvSpPr>
        <p:spPr>
          <a:xfrm>
            <a:off x="7038784" y="6807823"/>
            <a:ext cx="742925" cy="3502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725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175</a:t>
            </a:r>
            <a:endParaRPr lang="en-US" sz="1725" dirty="0"/>
          </a:p>
        </p:txBody>
      </p:sp>
      <p:sp>
        <p:nvSpPr>
          <p:cNvPr id="31" name="Text 29"/>
          <p:cNvSpPr/>
          <p:nvPr/>
        </p:nvSpPr>
        <p:spPr>
          <a:xfrm>
            <a:off x="1303309" y="7329472"/>
            <a:ext cx="2409715" cy="3502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Tete Mensa-Annan</a:t>
            </a:r>
            <a:endParaRPr lang="en-US" sz="1725" dirty="0"/>
          </a:p>
        </p:txBody>
      </p:sp>
      <p:sp>
        <p:nvSpPr>
          <p:cNvPr id="32" name="Shape 30"/>
          <p:cNvSpPr/>
          <p:nvPr/>
        </p:nvSpPr>
        <p:spPr>
          <a:xfrm>
            <a:off x="3665299" y="7361739"/>
            <a:ext cx="3278346" cy="247630"/>
          </a:xfrm>
          <a:prstGeom prst="rect">
            <a:avLst/>
          </a:prstGeom>
          <a:solidFill>
            <a:srgbClr val="EEF1F0"/>
          </a:solidFill>
          <a:ln/>
        </p:spPr>
      </p:sp>
      <p:sp>
        <p:nvSpPr>
          <p:cNvPr id="33" name="Shape 31"/>
          <p:cNvSpPr/>
          <p:nvPr/>
        </p:nvSpPr>
        <p:spPr>
          <a:xfrm>
            <a:off x="3665299" y="7361739"/>
            <a:ext cx="914605" cy="247630"/>
          </a:xfrm>
          <a:prstGeom prst="rect">
            <a:avLst/>
          </a:prstGeom>
          <a:gradFill rotWithShape="1">
            <a:gsLst>
              <a:gs pos="0">
                <a:srgbClr val="C43B3B">
                  <a:alpha val="100000"/>
                </a:srgbClr>
              </a:gs>
              <a:gs pos="100000">
                <a:srgbClr val="DB6A62">
                  <a:alpha val="100000"/>
                </a:srgbClr>
              </a:gs>
            </a:gsLst>
            <a:lin ang="0" scaled="0"/>
          </a:gradFill>
          <a:ln/>
        </p:spPr>
      </p:sp>
      <p:sp>
        <p:nvSpPr>
          <p:cNvPr id="34" name="Text 32"/>
          <p:cNvSpPr/>
          <p:nvPr/>
        </p:nvSpPr>
        <p:spPr>
          <a:xfrm>
            <a:off x="7038784" y="7329472"/>
            <a:ext cx="742925" cy="3502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725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1725" dirty="0"/>
          </a:p>
        </p:txBody>
      </p:sp>
      <p:sp>
        <p:nvSpPr>
          <p:cNvPr id="35" name="Shape 33"/>
          <p:cNvSpPr/>
          <p:nvPr/>
        </p:nvSpPr>
        <p:spPr>
          <a:xfrm>
            <a:off x="8665923" y="1676130"/>
            <a:ext cx="8707695" cy="6599088"/>
          </a:xfrm>
          <a:prstGeom prst="rect">
            <a:avLst/>
          </a:prstGeom>
          <a:solidFill>
            <a:srgbClr val="FFFFFF"/>
          </a:solidFill>
          <a:ln w="8004">
            <a:solidFill>
              <a:srgbClr val="E2E2D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054878" y="2007929"/>
            <a:ext cx="8722766" cy="334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Reseller Coverage vs. Orders — By Territory</a:t>
            </a:r>
            <a:endParaRPr lang="en-US" sz="2025" dirty="0"/>
          </a:p>
        </p:txBody>
      </p:sp>
      <p:pic>
        <p:nvPicPr>
          <p:cNvPr id="37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54878" y="2494559"/>
            <a:ext cx="7929787" cy="544886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8665923" y="8503714"/>
            <a:ext cx="8707695" cy="115460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Shape 36"/>
          <p:cNvSpPr/>
          <p:nvPr/>
        </p:nvSpPr>
        <p:spPr>
          <a:xfrm>
            <a:off x="8665923" y="9650315"/>
            <a:ext cx="8707695" cy="9525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40" name="Shape 37"/>
          <p:cNvSpPr/>
          <p:nvPr/>
        </p:nvSpPr>
        <p:spPr>
          <a:xfrm>
            <a:off x="8665923" y="8503714"/>
            <a:ext cx="8707695" cy="9525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41" name="Shape 38"/>
          <p:cNvSpPr/>
          <p:nvPr/>
        </p:nvSpPr>
        <p:spPr>
          <a:xfrm>
            <a:off x="8665923" y="8503714"/>
            <a:ext cx="40021" cy="1154606"/>
          </a:xfrm>
          <a:prstGeom prst="rect">
            <a:avLst/>
          </a:prstGeom>
          <a:solidFill>
            <a:srgbClr val="17835A"/>
          </a:solidFill>
          <a:ln/>
        </p:spPr>
      </p:sp>
      <p:sp>
        <p:nvSpPr>
          <p:cNvPr id="42" name="Shape 39"/>
          <p:cNvSpPr/>
          <p:nvPr/>
        </p:nvSpPr>
        <p:spPr>
          <a:xfrm>
            <a:off x="17365614" y="8503714"/>
            <a:ext cx="9525" cy="1154606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43" name="Text 40"/>
          <p:cNvSpPr/>
          <p:nvPr/>
        </p:nvSpPr>
        <p:spPr>
          <a:xfrm>
            <a:off x="9010730" y="8759347"/>
            <a:ext cx="8291604" cy="681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4020"/>
              </a:lnSpc>
              <a:buNone/>
            </a:pPr>
            <a:r>
              <a:rPr lang="en-US" sz="1725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finding: </a:t>
            </a:r>
            <a:r>
              <a:rPr lang="en-US" sz="1725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Reseller count correlates directly with order volume — underperformance is a coverage gap, not a headcount problem.</a:t>
            </a:r>
            <a:endParaRPr lang="en-US" sz="172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90475" y="-476250"/>
            <a:ext cx="2000175" cy="3810000"/>
          </a:xfrm>
          <a:prstGeom prst="rect">
            <a:avLst/>
          </a:prstGeom>
          <a:gradFill rotWithShape="1">
            <a:gsLst>
              <a:gs pos="0">
                <a:srgbClr val="1F9A66">
                  <a:alpha val="100000"/>
                </a:srgbClr>
              </a:gs>
              <a:gs pos="100000">
                <a:srgbClr val="0B5638">
                  <a:alpha val="100000"/>
                </a:srgbClr>
              </a:gs>
            </a:gsLst>
            <a:lin ang="4500000" scaled="0"/>
          </a:gradFill>
          <a:ln/>
        </p:spPr>
      </p:sp>
      <p:sp>
        <p:nvSpPr>
          <p:cNvPr id="3" name="Shape 1"/>
          <p:cNvSpPr/>
          <p:nvPr/>
        </p:nvSpPr>
        <p:spPr>
          <a:xfrm>
            <a:off x="1219140" y="-476250"/>
            <a:ext cx="1571575" cy="4095650"/>
          </a:xfrm>
          <a:prstGeom prst="rect">
            <a:avLst/>
          </a:prstGeom>
          <a:gradFill rotWithShape="1">
            <a:gsLst>
              <a:gs pos="0">
                <a:srgbClr val="D9564F">
                  <a:alpha val="100000"/>
                </a:srgbClr>
              </a:gs>
              <a:gs pos="100000">
                <a:srgbClr val="A82C28">
                  <a:alpha val="100000"/>
                </a:srgbClr>
              </a:gs>
            </a:gsLst>
            <a:lin ang="4500000" scaled="0"/>
          </a:gradFill>
          <a:ln/>
        </p:spPr>
      </p:sp>
      <p:sp>
        <p:nvSpPr>
          <p:cNvPr id="4" name="Shape 2"/>
          <p:cNvSpPr/>
          <p:nvPr/>
        </p:nvSpPr>
        <p:spPr>
          <a:xfrm>
            <a:off x="114185" y="114185"/>
            <a:ext cx="1444758" cy="1444758"/>
          </a:xfrm>
          <a:prstGeom prst="rect">
            <a:avLst/>
          </a:prstGeom>
          <a:ln w="8004">
            <a:solidFill>
              <a:srgbClr val="9FC0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287499" y="7048449"/>
            <a:ext cx="4000475" cy="3238450"/>
          </a:xfrm>
          <a:prstGeom prst="rect">
            <a:avLst/>
          </a:prstGeom>
          <a:solidFill>
            <a:srgbClr val="7BA7D6">
              <a:alpha val="4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2762200" y="3810000"/>
            <a:ext cx="12572999" cy="30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360" dirty="0">
                <a:solidFill>
                  <a:srgbClr val="178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03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762200" y="4264614"/>
            <a:ext cx="12572999" cy="9707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8950"/>
              </a:lnSpc>
              <a:buNone/>
            </a:pPr>
            <a:r>
              <a:rPr lang="en-US" sz="720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</a:t>
            </a:r>
            <a:endParaRPr lang="en-US" sz="7200" dirty="0"/>
          </a:p>
        </p:txBody>
      </p:sp>
      <p:sp>
        <p:nvSpPr>
          <p:cNvPr id="8" name="Text 6"/>
          <p:cNvSpPr/>
          <p:nvPr/>
        </p:nvSpPr>
        <p:spPr>
          <a:xfrm>
            <a:off x="2762200" y="5197228"/>
            <a:ext cx="12572999" cy="9707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8950"/>
              </a:lnSpc>
              <a:buNone/>
            </a:pPr>
            <a:r>
              <a:rPr lang="en-US" sz="7200" b="1" dirty="0">
                <a:solidFill>
                  <a:srgbClr val="8FB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Recommendations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2762200" y="6453637"/>
            <a:ext cx="12572999" cy="4142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Turning findings into actionable next steps</a:t>
            </a:r>
            <a:endParaRPr lang="en-US" sz="2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185" y="-380950"/>
            <a:ext cx="1219140" cy="2190650"/>
          </a:xfrm>
          <a:prstGeom prst="rect">
            <a:avLst/>
          </a:prstGeom>
          <a:gradFill rotWithShape="1">
            <a:gsLst>
              <a:gs pos="0">
                <a:srgbClr val="1F9A66">
                  <a:alpha val="100000"/>
                </a:srgbClr>
              </a:gs>
              <a:gs pos="100000">
                <a:srgbClr val="0B5638">
                  <a:alpha val="100000"/>
                </a:srgbClr>
              </a:gs>
            </a:gsLst>
            <a:lin ang="4500000" scaled="0"/>
          </a:gradFill>
          <a:ln/>
        </p:spPr>
      </p:sp>
      <p:sp>
        <p:nvSpPr>
          <p:cNvPr id="3" name="Shape 1"/>
          <p:cNvSpPr/>
          <p:nvPr/>
        </p:nvSpPr>
        <p:spPr>
          <a:xfrm>
            <a:off x="742890" y="-380950"/>
            <a:ext cx="990520" cy="2362115"/>
          </a:xfrm>
          <a:prstGeom prst="rect">
            <a:avLst/>
          </a:prstGeom>
          <a:gradFill rotWithShape="1">
            <a:gsLst>
              <a:gs pos="0">
                <a:srgbClr val="D9564F">
                  <a:alpha val="100000"/>
                </a:srgbClr>
              </a:gs>
              <a:gs pos="100000">
                <a:srgbClr val="A82C28">
                  <a:alpha val="100000"/>
                </a:srgbClr>
              </a:gs>
            </a:gsLst>
            <a:lin ang="4500000" scaled="0"/>
          </a:gradFill>
          <a:ln/>
        </p:spPr>
      </p:sp>
      <p:sp>
        <p:nvSpPr>
          <p:cNvPr id="4" name="Shape 2"/>
          <p:cNvSpPr/>
          <p:nvPr/>
        </p:nvSpPr>
        <p:spPr>
          <a:xfrm>
            <a:off x="15621074" y="8191424"/>
            <a:ext cx="2666900" cy="2095475"/>
          </a:xfrm>
          <a:prstGeom prst="rect">
            <a:avLst/>
          </a:prstGeom>
          <a:solidFill>
            <a:srgbClr val="7BA7D6">
              <a:alpha val="4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1392" y="781035"/>
            <a:ext cx="18105190" cy="6063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390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</a:t>
            </a:r>
            <a:r>
              <a:rPr lang="en-US" sz="3900" b="1" dirty="0">
                <a:solidFill>
                  <a:srgbClr val="5B8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Data-Backed Recommendations</a:t>
            </a:r>
            <a:endParaRPr lang="en-US" sz="3900" dirty="0"/>
          </a:p>
        </p:txBody>
      </p:sp>
      <p:sp>
        <p:nvSpPr>
          <p:cNvPr id="6" name="Shape 4"/>
          <p:cNvSpPr/>
          <p:nvPr/>
        </p:nvSpPr>
        <p:spPr>
          <a:xfrm>
            <a:off x="914355" y="1863603"/>
            <a:ext cx="5232371" cy="768040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914355" y="9536005"/>
            <a:ext cx="5232371" cy="9525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8" name="Shape 6"/>
          <p:cNvSpPr/>
          <p:nvPr/>
        </p:nvSpPr>
        <p:spPr>
          <a:xfrm>
            <a:off x="914355" y="1863603"/>
            <a:ext cx="5232371" cy="40021"/>
          </a:xfrm>
          <a:prstGeom prst="rect">
            <a:avLst/>
          </a:prstGeom>
          <a:solidFill>
            <a:srgbClr val="17835A"/>
          </a:solidFill>
          <a:ln/>
        </p:spPr>
      </p:sp>
      <p:sp>
        <p:nvSpPr>
          <p:cNvPr id="9" name="Shape 7"/>
          <p:cNvSpPr/>
          <p:nvPr/>
        </p:nvSpPr>
        <p:spPr>
          <a:xfrm>
            <a:off x="914355" y="1863603"/>
            <a:ext cx="9525" cy="7680406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10" name="Shape 8"/>
          <p:cNvSpPr/>
          <p:nvPr/>
        </p:nvSpPr>
        <p:spPr>
          <a:xfrm>
            <a:off x="6138722" y="1863603"/>
            <a:ext cx="9525" cy="7680406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11" name="Text 9"/>
          <p:cNvSpPr/>
          <p:nvPr/>
        </p:nvSpPr>
        <p:spPr>
          <a:xfrm>
            <a:off x="1303309" y="2322719"/>
            <a:ext cx="4899909" cy="609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73"/>
              </a:lnSpc>
              <a:buNone/>
            </a:pPr>
            <a:r>
              <a:rPr lang="en-US" sz="4500" b="1" dirty="0">
                <a:solidFill>
                  <a:srgbClr val="DCE6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500" dirty="0"/>
          </a:p>
        </p:txBody>
      </p:sp>
      <p:sp>
        <p:nvSpPr>
          <p:cNvPr id="12" name="Text 10"/>
          <p:cNvSpPr/>
          <p:nvPr/>
        </p:nvSpPr>
        <p:spPr>
          <a:xfrm>
            <a:off x="1303309" y="3103754"/>
            <a:ext cx="4588097" cy="7762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792"/>
              </a:lnSpc>
              <a:buNone/>
            </a:pPr>
            <a:r>
              <a:rPr lang="en-US" sz="2325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 the Reseller Network in Australia &amp; Germany</a:t>
            </a:r>
            <a:endParaRPr lang="en-US" sz="2325" dirty="0"/>
          </a:p>
        </p:txBody>
      </p:sp>
      <p:sp>
        <p:nvSpPr>
          <p:cNvPr id="13" name="Text 11"/>
          <p:cNvSpPr/>
          <p:nvPr/>
        </p:nvSpPr>
        <p:spPr>
          <a:xfrm>
            <a:off x="1303309" y="4051377"/>
            <a:ext cx="4588097" cy="1396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573"/>
              </a:lnSpc>
              <a:buNone/>
            </a:pPr>
            <a:r>
              <a:rPr lang="en-US" sz="1725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Australia and Germany combined for fewer than 230 orders — against 717 for Southwest. The data shows coverage drives volume, not rep count.</a:t>
            </a:r>
            <a:endParaRPr lang="en-US" sz="1725" dirty="0"/>
          </a:p>
        </p:txBody>
      </p:sp>
      <p:sp>
        <p:nvSpPr>
          <p:cNvPr id="14" name="Text 12"/>
          <p:cNvSpPr/>
          <p:nvPr/>
        </p:nvSpPr>
        <p:spPr>
          <a:xfrm>
            <a:off x="1303309" y="8130913"/>
            <a:ext cx="4588097" cy="10240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97"/>
              </a:lnSpc>
              <a:buNone/>
            </a:pPr>
            <a:r>
              <a:rPr lang="en-US" sz="1725" b="1" dirty="0">
                <a:solidFill>
                  <a:srgbClr val="178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Recruit 20–30 new reseller partners in each territory before adding any salesperson headcount.</a:t>
            </a:r>
            <a:endParaRPr lang="en-US" sz="1725" dirty="0"/>
          </a:p>
        </p:txBody>
      </p:sp>
      <p:sp>
        <p:nvSpPr>
          <p:cNvPr id="15" name="Shape 13"/>
          <p:cNvSpPr/>
          <p:nvPr/>
        </p:nvSpPr>
        <p:spPr>
          <a:xfrm>
            <a:off x="6527676" y="1863603"/>
            <a:ext cx="5232496" cy="768040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6527676" y="9536005"/>
            <a:ext cx="5232496" cy="9525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17" name="Shape 15"/>
          <p:cNvSpPr/>
          <p:nvPr/>
        </p:nvSpPr>
        <p:spPr>
          <a:xfrm>
            <a:off x="6527676" y="1863603"/>
            <a:ext cx="5232496" cy="40021"/>
          </a:xfrm>
          <a:prstGeom prst="rect">
            <a:avLst/>
          </a:prstGeom>
          <a:solidFill>
            <a:srgbClr val="5B8CC4"/>
          </a:solidFill>
          <a:ln/>
        </p:spPr>
      </p:sp>
      <p:sp>
        <p:nvSpPr>
          <p:cNvPr id="18" name="Shape 16"/>
          <p:cNvSpPr/>
          <p:nvPr/>
        </p:nvSpPr>
        <p:spPr>
          <a:xfrm>
            <a:off x="6527676" y="1863603"/>
            <a:ext cx="9525" cy="7680406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19" name="Shape 17"/>
          <p:cNvSpPr/>
          <p:nvPr/>
        </p:nvSpPr>
        <p:spPr>
          <a:xfrm>
            <a:off x="11752168" y="1863603"/>
            <a:ext cx="9525" cy="7680406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20" name="Text 18"/>
          <p:cNvSpPr/>
          <p:nvPr/>
        </p:nvSpPr>
        <p:spPr>
          <a:xfrm>
            <a:off x="6916630" y="2322719"/>
            <a:ext cx="4900047" cy="609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73"/>
              </a:lnSpc>
              <a:buNone/>
            </a:pPr>
            <a:r>
              <a:rPr lang="en-US" sz="4500" b="1" dirty="0">
                <a:solidFill>
                  <a:srgbClr val="DCE3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500" dirty="0"/>
          </a:p>
        </p:txBody>
      </p:sp>
      <p:sp>
        <p:nvSpPr>
          <p:cNvPr id="21" name="Text 19"/>
          <p:cNvSpPr/>
          <p:nvPr/>
        </p:nvSpPr>
        <p:spPr>
          <a:xfrm>
            <a:off x="6916630" y="3103754"/>
            <a:ext cx="4588226" cy="7762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792"/>
              </a:lnSpc>
              <a:buNone/>
            </a:pPr>
            <a:r>
              <a:rPr lang="en-US" sz="2325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Investigate France &amp; United Kingdom Engagement</a:t>
            </a:r>
            <a:endParaRPr lang="en-US" sz="2325" dirty="0"/>
          </a:p>
        </p:txBody>
      </p:sp>
      <p:sp>
        <p:nvSpPr>
          <p:cNvPr id="22" name="Text 20"/>
          <p:cNvSpPr/>
          <p:nvPr/>
        </p:nvSpPr>
        <p:spPr>
          <a:xfrm>
            <a:off x="6916630" y="4051377"/>
            <a:ext cx="4588226" cy="1056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573"/>
              </a:lnSpc>
              <a:buNone/>
            </a:pPr>
            <a:r>
              <a:rPr lang="en-US" sz="1725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markets have adequate reseller coverage but disproportionately low order volumes compared to peer territories.</a:t>
            </a:r>
            <a:endParaRPr lang="en-US" sz="1725" dirty="0"/>
          </a:p>
        </p:txBody>
      </p:sp>
      <p:sp>
        <p:nvSpPr>
          <p:cNvPr id="23" name="Text 21"/>
          <p:cNvSpPr/>
          <p:nvPr/>
        </p:nvSpPr>
        <p:spPr>
          <a:xfrm>
            <a:off x="6916630" y="8459585"/>
            <a:ext cx="4588226" cy="695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97"/>
              </a:lnSpc>
              <a:buNone/>
            </a:pPr>
            <a:r>
              <a:rPr lang="en-US" sz="1725" b="1" dirty="0">
                <a:solidFill>
                  <a:srgbClr val="3E7F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a Bikes-focused sales review in both markets before any structural changes.</a:t>
            </a:r>
            <a:endParaRPr lang="en-US" sz="1725" dirty="0"/>
          </a:p>
        </p:txBody>
      </p:sp>
      <p:sp>
        <p:nvSpPr>
          <p:cNvPr id="24" name="Shape 22"/>
          <p:cNvSpPr/>
          <p:nvPr/>
        </p:nvSpPr>
        <p:spPr>
          <a:xfrm>
            <a:off x="12141123" y="1863603"/>
            <a:ext cx="5232496" cy="768040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12141123" y="9536005"/>
            <a:ext cx="5232496" cy="9525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26" name="Shape 24"/>
          <p:cNvSpPr/>
          <p:nvPr/>
        </p:nvSpPr>
        <p:spPr>
          <a:xfrm>
            <a:off x="12141123" y="1863603"/>
            <a:ext cx="5232496" cy="40021"/>
          </a:xfrm>
          <a:prstGeom prst="rect">
            <a:avLst/>
          </a:prstGeom>
          <a:solidFill>
            <a:srgbClr val="C43B3B"/>
          </a:solidFill>
          <a:ln/>
        </p:spPr>
      </p:sp>
      <p:sp>
        <p:nvSpPr>
          <p:cNvPr id="27" name="Shape 25"/>
          <p:cNvSpPr/>
          <p:nvPr/>
        </p:nvSpPr>
        <p:spPr>
          <a:xfrm>
            <a:off x="12141123" y="1863603"/>
            <a:ext cx="9525" cy="7680406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28" name="Shape 26"/>
          <p:cNvSpPr/>
          <p:nvPr/>
        </p:nvSpPr>
        <p:spPr>
          <a:xfrm>
            <a:off x="17365615" y="1863603"/>
            <a:ext cx="9525" cy="7680406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29" name="Text 27"/>
          <p:cNvSpPr/>
          <p:nvPr/>
        </p:nvSpPr>
        <p:spPr>
          <a:xfrm>
            <a:off x="12530077" y="2322719"/>
            <a:ext cx="4900047" cy="609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73"/>
              </a:lnSpc>
              <a:buNone/>
            </a:pPr>
            <a:r>
              <a:rPr lang="en-US" sz="4500" b="1" dirty="0">
                <a:solidFill>
                  <a:srgbClr val="EEDC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500" dirty="0"/>
          </a:p>
        </p:txBody>
      </p:sp>
      <p:sp>
        <p:nvSpPr>
          <p:cNvPr id="30" name="Text 28"/>
          <p:cNvSpPr/>
          <p:nvPr/>
        </p:nvSpPr>
        <p:spPr>
          <a:xfrm>
            <a:off x="12530077" y="3103754"/>
            <a:ext cx="4588226" cy="7762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792"/>
              </a:lnSpc>
              <a:buNone/>
            </a:pPr>
            <a:r>
              <a:rPr lang="en-US" sz="2325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Replicate Tsvi Reiter’s Engagement Model Team-Wide</a:t>
            </a:r>
            <a:endParaRPr lang="en-US" sz="2325" dirty="0"/>
          </a:p>
        </p:txBody>
      </p:sp>
      <p:sp>
        <p:nvSpPr>
          <p:cNvPr id="31" name="Text 29"/>
          <p:cNvSpPr/>
          <p:nvPr/>
        </p:nvSpPr>
        <p:spPr>
          <a:xfrm>
            <a:off x="12530077" y="4051377"/>
            <a:ext cx="4588226" cy="1056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573"/>
              </a:lnSpc>
              <a:buNone/>
            </a:pPr>
            <a:r>
              <a:rPr lang="en-US" sz="1725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400+ orders, Tsvi Reiter operates at nearly double the team average across a comparable book of resellers.</a:t>
            </a:r>
            <a:endParaRPr lang="en-US" sz="1725" dirty="0"/>
          </a:p>
        </p:txBody>
      </p:sp>
      <p:sp>
        <p:nvSpPr>
          <p:cNvPr id="32" name="Text 30"/>
          <p:cNvSpPr/>
          <p:nvPr/>
        </p:nvSpPr>
        <p:spPr>
          <a:xfrm>
            <a:off x="12530077" y="8459585"/>
            <a:ext cx="4588226" cy="695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97"/>
              </a:lnSpc>
              <a:buNone/>
            </a:pPr>
            <a:r>
              <a:rPr lang="en-US" sz="1725" b="1" dirty="0">
                <a:solidFill>
                  <a:srgbClr val="C4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and share his approach to lift mid-tier territories without new headcount.</a:t>
            </a:r>
            <a:endParaRPr lang="en-US" sz="1725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185" y="-380950"/>
            <a:ext cx="1219140" cy="2190650"/>
          </a:xfrm>
          <a:prstGeom prst="rect">
            <a:avLst/>
          </a:prstGeom>
          <a:gradFill rotWithShape="1">
            <a:gsLst>
              <a:gs pos="0">
                <a:srgbClr val="1F9A66">
                  <a:alpha val="100000"/>
                </a:srgbClr>
              </a:gs>
              <a:gs pos="100000">
                <a:srgbClr val="0B5638">
                  <a:alpha val="100000"/>
                </a:srgbClr>
              </a:gs>
            </a:gsLst>
            <a:lin ang="4500000" scaled="0"/>
          </a:gradFill>
          <a:ln/>
        </p:spPr>
      </p:sp>
      <p:sp>
        <p:nvSpPr>
          <p:cNvPr id="3" name="Shape 1"/>
          <p:cNvSpPr/>
          <p:nvPr/>
        </p:nvSpPr>
        <p:spPr>
          <a:xfrm>
            <a:off x="742890" y="-380950"/>
            <a:ext cx="990520" cy="2362115"/>
          </a:xfrm>
          <a:prstGeom prst="rect">
            <a:avLst/>
          </a:prstGeom>
          <a:gradFill rotWithShape="1">
            <a:gsLst>
              <a:gs pos="0">
                <a:srgbClr val="D9564F">
                  <a:alpha val="100000"/>
                </a:srgbClr>
              </a:gs>
              <a:gs pos="100000">
                <a:srgbClr val="A82C28">
                  <a:alpha val="100000"/>
                </a:srgbClr>
              </a:gs>
            </a:gsLst>
            <a:lin ang="4500000" scaled="0"/>
          </a:gradFill>
          <a:ln/>
        </p:spPr>
      </p:sp>
      <p:sp>
        <p:nvSpPr>
          <p:cNvPr id="4" name="Text 2"/>
          <p:cNvSpPr/>
          <p:nvPr/>
        </p:nvSpPr>
        <p:spPr>
          <a:xfrm>
            <a:off x="91392" y="742890"/>
            <a:ext cx="18105190" cy="5903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375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Deliverables &amp; </a:t>
            </a:r>
            <a:r>
              <a:rPr lang="en-US" sz="3750" b="1" dirty="0">
                <a:solidFill>
                  <a:srgbClr val="5B8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BI Dashboard</a:t>
            </a:r>
            <a:endParaRPr lang="en-US" sz="3750" dirty="0"/>
          </a:p>
        </p:txBody>
      </p:sp>
      <p:sp>
        <p:nvSpPr>
          <p:cNvPr id="5" name="Shape 3"/>
          <p:cNvSpPr/>
          <p:nvPr/>
        </p:nvSpPr>
        <p:spPr>
          <a:xfrm>
            <a:off x="914355" y="1695140"/>
            <a:ext cx="9192700" cy="7963180"/>
          </a:xfrm>
          <a:prstGeom prst="rect">
            <a:avLst/>
          </a:prstGeom>
          <a:solidFill>
            <a:srgbClr val="FFFFFF"/>
          </a:solidFill>
          <a:ln w="8004">
            <a:solidFill>
              <a:srgbClr val="E2E2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4299" y="2026939"/>
            <a:ext cx="9298093" cy="334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BI Dashboard — </a:t>
            </a:r>
            <a:r>
              <a:rPr lang="en-US" sz="2025" b="1" dirty="0">
                <a:solidFill>
                  <a:srgbClr val="5B8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Pages</a:t>
            </a:r>
            <a:endParaRPr lang="en-US" sz="2025" dirty="0"/>
          </a:p>
        </p:txBody>
      </p:sp>
      <p:sp>
        <p:nvSpPr>
          <p:cNvPr id="7" name="Shape 5"/>
          <p:cNvSpPr/>
          <p:nvPr/>
        </p:nvSpPr>
        <p:spPr>
          <a:xfrm>
            <a:off x="1284299" y="2570724"/>
            <a:ext cx="24013" cy="838440"/>
          </a:xfrm>
          <a:prstGeom prst="rect">
            <a:avLst/>
          </a:prstGeom>
          <a:solidFill>
            <a:srgbClr val="9FC0E0"/>
          </a:solidFill>
          <a:ln/>
        </p:spPr>
      </p:sp>
      <p:sp>
        <p:nvSpPr>
          <p:cNvPr id="8" name="Text 6"/>
          <p:cNvSpPr/>
          <p:nvPr/>
        </p:nvSpPr>
        <p:spPr>
          <a:xfrm>
            <a:off x="1479652" y="2570724"/>
            <a:ext cx="4287438" cy="2942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Cards</a:t>
            </a:r>
            <a:endParaRPr lang="en-US" sz="1725" dirty="0"/>
          </a:p>
        </p:txBody>
      </p:sp>
      <p:sp>
        <p:nvSpPr>
          <p:cNvPr id="9" name="Text 7"/>
          <p:cNvSpPr/>
          <p:nvPr/>
        </p:nvSpPr>
        <p:spPr>
          <a:xfrm>
            <a:off x="1479652" y="2864879"/>
            <a:ext cx="4014601" cy="582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orders, resellers, salespersons, orders/salesperson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43962" y="2570724"/>
            <a:ext cx="24013" cy="838440"/>
          </a:xfrm>
          <a:prstGeom prst="rect">
            <a:avLst/>
          </a:prstGeom>
          <a:solidFill>
            <a:srgbClr val="9FC0E0"/>
          </a:solidFill>
          <a:ln/>
        </p:spPr>
      </p:sp>
      <p:sp>
        <p:nvSpPr>
          <p:cNvPr id="11" name="Text 9"/>
          <p:cNvSpPr/>
          <p:nvPr/>
        </p:nvSpPr>
        <p:spPr>
          <a:xfrm>
            <a:off x="5839315" y="2570724"/>
            <a:ext cx="4287575" cy="2942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Territory Bar Chart</a:t>
            </a:r>
            <a:endParaRPr lang="en-US" sz="1725" dirty="0"/>
          </a:p>
        </p:txBody>
      </p:sp>
      <p:sp>
        <p:nvSpPr>
          <p:cNvPr id="12" name="Text 10"/>
          <p:cNvSpPr/>
          <p:nvPr/>
        </p:nvSpPr>
        <p:spPr>
          <a:xfrm>
            <a:off x="5839315" y="2864879"/>
            <a:ext cx="4287575" cy="310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10 territories ranked by order volume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284299" y="3599639"/>
            <a:ext cx="24013" cy="566297"/>
          </a:xfrm>
          <a:prstGeom prst="rect">
            <a:avLst/>
          </a:prstGeom>
          <a:solidFill>
            <a:srgbClr val="9FC0E0"/>
          </a:solidFill>
          <a:ln/>
        </p:spPr>
      </p:sp>
      <p:sp>
        <p:nvSpPr>
          <p:cNvPr id="14" name="Text 12"/>
          <p:cNvSpPr/>
          <p:nvPr/>
        </p:nvSpPr>
        <p:spPr>
          <a:xfrm>
            <a:off x="1479652" y="3599639"/>
            <a:ext cx="4287438" cy="2942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Trend</a:t>
            </a:r>
            <a:endParaRPr lang="en-US" sz="1725" dirty="0"/>
          </a:p>
        </p:txBody>
      </p:sp>
      <p:sp>
        <p:nvSpPr>
          <p:cNvPr id="15" name="Text 13"/>
          <p:cNvSpPr/>
          <p:nvPr/>
        </p:nvSpPr>
        <p:spPr>
          <a:xfrm>
            <a:off x="1479652" y="3893794"/>
            <a:ext cx="4287438" cy="310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growth from 2017 to 2020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643962" y="3599639"/>
            <a:ext cx="24013" cy="566297"/>
          </a:xfrm>
          <a:prstGeom prst="rect">
            <a:avLst/>
          </a:prstGeom>
          <a:solidFill>
            <a:srgbClr val="9FC0E0"/>
          </a:solidFill>
          <a:ln/>
        </p:spPr>
      </p:sp>
      <p:sp>
        <p:nvSpPr>
          <p:cNvPr id="17" name="Text 15"/>
          <p:cNvSpPr/>
          <p:nvPr/>
        </p:nvSpPr>
        <p:spPr>
          <a:xfrm>
            <a:off x="5839315" y="3599639"/>
            <a:ext cx="4287575" cy="2942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Scatter Plot</a:t>
            </a:r>
            <a:endParaRPr lang="en-US" sz="1725" dirty="0"/>
          </a:p>
        </p:txBody>
      </p:sp>
      <p:sp>
        <p:nvSpPr>
          <p:cNvPr id="18" name="Text 16"/>
          <p:cNvSpPr/>
          <p:nvPr/>
        </p:nvSpPr>
        <p:spPr>
          <a:xfrm>
            <a:off x="5839315" y="3893794"/>
            <a:ext cx="4287575" cy="310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Salesperson efficiency — resellers vs. orders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1284299" y="4356412"/>
            <a:ext cx="24013" cy="838440"/>
          </a:xfrm>
          <a:prstGeom prst="rect">
            <a:avLst/>
          </a:prstGeom>
          <a:solidFill>
            <a:srgbClr val="9FC0E0"/>
          </a:solidFill>
          <a:ln/>
        </p:spPr>
      </p:sp>
      <p:sp>
        <p:nvSpPr>
          <p:cNvPr id="20" name="Text 18"/>
          <p:cNvSpPr/>
          <p:nvPr/>
        </p:nvSpPr>
        <p:spPr>
          <a:xfrm>
            <a:off x="1479652" y="4356412"/>
            <a:ext cx="4287438" cy="2942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× Category Matrix</a:t>
            </a:r>
            <a:endParaRPr lang="en-US" sz="1725" dirty="0"/>
          </a:p>
        </p:txBody>
      </p:sp>
      <p:sp>
        <p:nvSpPr>
          <p:cNvPr id="21" name="Text 19"/>
          <p:cNvSpPr/>
          <p:nvPr/>
        </p:nvSpPr>
        <p:spPr>
          <a:xfrm>
            <a:off x="1479652" y="4650566"/>
            <a:ext cx="4287438" cy="310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counts by territory and product category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43962" y="4356412"/>
            <a:ext cx="24013" cy="838440"/>
          </a:xfrm>
          <a:prstGeom prst="rect">
            <a:avLst/>
          </a:prstGeom>
          <a:solidFill>
            <a:srgbClr val="9FC0E0"/>
          </a:solidFill>
          <a:ln/>
        </p:spPr>
      </p:sp>
      <p:sp>
        <p:nvSpPr>
          <p:cNvPr id="23" name="Text 21"/>
          <p:cNvSpPr/>
          <p:nvPr/>
        </p:nvSpPr>
        <p:spPr>
          <a:xfrm>
            <a:off x="5839315" y="4356412"/>
            <a:ext cx="4287575" cy="2942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Salesperson Bar Chart</a:t>
            </a:r>
            <a:endParaRPr lang="en-US" sz="1725" dirty="0"/>
          </a:p>
        </p:txBody>
      </p:sp>
      <p:sp>
        <p:nvSpPr>
          <p:cNvPr id="24" name="Text 22"/>
          <p:cNvSpPr/>
          <p:nvPr/>
        </p:nvSpPr>
        <p:spPr>
          <a:xfrm>
            <a:off x="5839315" y="4650566"/>
            <a:ext cx="4014730" cy="582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17 salespersons ranked with region color coding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1284299" y="5385327"/>
            <a:ext cx="24013" cy="838440"/>
          </a:xfrm>
          <a:prstGeom prst="rect">
            <a:avLst/>
          </a:prstGeom>
          <a:solidFill>
            <a:srgbClr val="9FC0E0"/>
          </a:solidFill>
          <a:ln/>
        </p:spPr>
      </p:sp>
      <p:sp>
        <p:nvSpPr>
          <p:cNvPr id="26" name="Text 24"/>
          <p:cNvSpPr/>
          <p:nvPr/>
        </p:nvSpPr>
        <p:spPr>
          <a:xfrm>
            <a:off x="1479652" y="5385327"/>
            <a:ext cx="4287438" cy="2942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Charts</a:t>
            </a:r>
            <a:endParaRPr lang="en-US" sz="1725" dirty="0"/>
          </a:p>
        </p:txBody>
      </p:sp>
      <p:sp>
        <p:nvSpPr>
          <p:cNvPr id="27" name="Text 25"/>
          <p:cNvSpPr/>
          <p:nvPr/>
        </p:nvSpPr>
        <p:spPr>
          <a:xfrm>
            <a:off x="1479652" y="5679481"/>
            <a:ext cx="4014601" cy="582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products, donut by category, subcategory column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643962" y="5385327"/>
            <a:ext cx="24013" cy="838440"/>
          </a:xfrm>
          <a:prstGeom prst="rect">
            <a:avLst/>
          </a:prstGeom>
          <a:solidFill>
            <a:srgbClr val="9FC0E0"/>
          </a:solidFill>
          <a:ln/>
        </p:spPr>
      </p:sp>
      <p:sp>
        <p:nvSpPr>
          <p:cNvPr id="29" name="Text 27"/>
          <p:cNvSpPr/>
          <p:nvPr/>
        </p:nvSpPr>
        <p:spPr>
          <a:xfrm>
            <a:off x="5839315" y="5385327"/>
            <a:ext cx="4287575" cy="2942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Slicers (×3)</a:t>
            </a:r>
            <a:endParaRPr lang="en-US" sz="1725" dirty="0"/>
          </a:p>
        </p:txBody>
      </p:sp>
      <p:sp>
        <p:nvSpPr>
          <p:cNvPr id="30" name="Text 28"/>
          <p:cNvSpPr/>
          <p:nvPr/>
        </p:nvSpPr>
        <p:spPr>
          <a:xfrm>
            <a:off x="5839315" y="5679481"/>
            <a:ext cx="4014730" cy="582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Year, SalesGroup, Category — cross-filter all visuals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10564170" y="1695140"/>
            <a:ext cx="6809449" cy="7963180"/>
          </a:xfrm>
          <a:prstGeom prst="rect">
            <a:avLst/>
          </a:prstGeom>
          <a:solidFill>
            <a:srgbClr val="FFFFFF"/>
          </a:solidFill>
          <a:ln w="8004">
            <a:solidFill>
              <a:srgbClr val="E2E2D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934114" y="2026939"/>
            <a:ext cx="6676517" cy="334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File — </a:t>
            </a:r>
            <a:r>
              <a:rPr lang="en-US" sz="1725" b="1" dirty="0">
                <a:solidFill>
                  <a:srgbClr val="1783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fullstack_project.sql</a:t>
            </a:r>
            <a:endParaRPr lang="en-US" sz="2025" dirty="0"/>
          </a:p>
        </p:txBody>
      </p:sp>
      <p:sp>
        <p:nvSpPr>
          <p:cNvPr id="33" name="Shape 31"/>
          <p:cNvSpPr/>
          <p:nvPr/>
        </p:nvSpPr>
        <p:spPr>
          <a:xfrm>
            <a:off x="10934114" y="4394181"/>
            <a:ext cx="380950" cy="380950"/>
          </a:xfrm>
          <a:prstGeom prst="rect">
            <a:avLst/>
          </a:prstGeom>
          <a:solidFill>
            <a:srgbClr val="EAF3EE"/>
          </a:solidFill>
          <a:ln/>
        </p:spPr>
      </p:sp>
      <p:sp>
        <p:nvSpPr>
          <p:cNvPr id="34" name="Text 32"/>
          <p:cNvSpPr/>
          <p:nvPr/>
        </p:nvSpPr>
        <p:spPr>
          <a:xfrm>
            <a:off x="10896014" y="4394181"/>
            <a:ext cx="457150" cy="419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b="1" dirty="0">
                <a:solidFill>
                  <a:srgbClr val="178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75" dirty="0"/>
          </a:p>
        </p:txBody>
      </p:sp>
      <p:sp>
        <p:nvSpPr>
          <p:cNvPr id="35" name="Text 33"/>
          <p:cNvSpPr/>
          <p:nvPr/>
        </p:nvSpPr>
        <p:spPr>
          <a:xfrm>
            <a:off x="11505538" y="4394181"/>
            <a:ext cx="5550351" cy="2942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Inspection</a:t>
            </a:r>
            <a:endParaRPr lang="en-US" sz="1725" dirty="0"/>
          </a:p>
        </p:txBody>
      </p:sp>
      <p:sp>
        <p:nvSpPr>
          <p:cNvPr id="36" name="Text 34"/>
          <p:cNvSpPr/>
          <p:nvPr/>
        </p:nvSpPr>
        <p:spPr>
          <a:xfrm>
            <a:off x="11505538" y="4688336"/>
            <a:ext cx="5550351" cy="310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queries: row counts, null checks, duplicates, date format audit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10934114" y="5150954"/>
            <a:ext cx="380950" cy="380950"/>
          </a:xfrm>
          <a:prstGeom prst="rect">
            <a:avLst/>
          </a:prstGeom>
          <a:solidFill>
            <a:srgbClr val="EAF3EE"/>
          </a:solidFill>
          <a:ln/>
        </p:spPr>
      </p:sp>
      <p:sp>
        <p:nvSpPr>
          <p:cNvPr id="38" name="Text 36"/>
          <p:cNvSpPr/>
          <p:nvPr/>
        </p:nvSpPr>
        <p:spPr>
          <a:xfrm>
            <a:off x="10896014" y="5150954"/>
            <a:ext cx="457150" cy="419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b="1" dirty="0">
                <a:solidFill>
                  <a:srgbClr val="178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75" dirty="0"/>
          </a:p>
        </p:txBody>
      </p:sp>
      <p:sp>
        <p:nvSpPr>
          <p:cNvPr id="39" name="Text 37"/>
          <p:cNvSpPr/>
          <p:nvPr/>
        </p:nvSpPr>
        <p:spPr>
          <a:xfrm>
            <a:off x="11505538" y="5150954"/>
            <a:ext cx="3669876" cy="2942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Cleaning</a:t>
            </a:r>
            <a:endParaRPr lang="en-US" sz="1725" dirty="0"/>
          </a:p>
        </p:txBody>
      </p:sp>
      <p:sp>
        <p:nvSpPr>
          <p:cNvPr id="40" name="Text 38"/>
          <p:cNvSpPr/>
          <p:nvPr/>
        </p:nvSpPr>
        <p:spPr>
          <a:xfrm>
            <a:off x="11505538" y="5445108"/>
            <a:ext cx="3669876" cy="310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parsing, TRIM, REPLACE, encoding fix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10934114" y="5907726"/>
            <a:ext cx="380950" cy="380950"/>
          </a:xfrm>
          <a:prstGeom prst="rect">
            <a:avLst/>
          </a:prstGeom>
          <a:solidFill>
            <a:srgbClr val="EAF3EE"/>
          </a:solidFill>
          <a:ln/>
        </p:spPr>
      </p:sp>
      <p:sp>
        <p:nvSpPr>
          <p:cNvPr id="42" name="Text 40"/>
          <p:cNvSpPr/>
          <p:nvPr/>
        </p:nvSpPr>
        <p:spPr>
          <a:xfrm>
            <a:off x="10896014" y="5907726"/>
            <a:ext cx="457150" cy="419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b="1" dirty="0">
                <a:solidFill>
                  <a:srgbClr val="178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75" dirty="0"/>
          </a:p>
        </p:txBody>
      </p:sp>
      <p:sp>
        <p:nvSpPr>
          <p:cNvPr id="43" name="Text 41"/>
          <p:cNvSpPr/>
          <p:nvPr/>
        </p:nvSpPr>
        <p:spPr>
          <a:xfrm>
            <a:off x="11505538" y="5907726"/>
            <a:ext cx="3222216" cy="2942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Creation</a:t>
            </a:r>
            <a:endParaRPr lang="en-US" sz="1725" dirty="0"/>
          </a:p>
        </p:txBody>
      </p:sp>
      <p:sp>
        <p:nvSpPr>
          <p:cNvPr id="44" name="Text 42"/>
          <p:cNvSpPr/>
          <p:nvPr/>
        </p:nvSpPr>
        <p:spPr>
          <a:xfrm>
            <a:off x="11505538" y="6201880"/>
            <a:ext cx="3222216" cy="310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vw_sales_analysis joining all 5 tables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10934114" y="6664498"/>
            <a:ext cx="380950" cy="380950"/>
          </a:xfrm>
          <a:prstGeom prst="rect">
            <a:avLst/>
          </a:prstGeom>
          <a:solidFill>
            <a:srgbClr val="EAF3EE"/>
          </a:solidFill>
          <a:ln/>
        </p:spPr>
      </p:sp>
      <p:sp>
        <p:nvSpPr>
          <p:cNvPr id="46" name="Text 44"/>
          <p:cNvSpPr/>
          <p:nvPr/>
        </p:nvSpPr>
        <p:spPr>
          <a:xfrm>
            <a:off x="10896014" y="6664498"/>
            <a:ext cx="457150" cy="419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b="1" dirty="0">
                <a:solidFill>
                  <a:srgbClr val="178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75" dirty="0"/>
          </a:p>
        </p:txBody>
      </p:sp>
      <p:sp>
        <p:nvSpPr>
          <p:cNvPr id="47" name="Text 45"/>
          <p:cNvSpPr/>
          <p:nvPr/>
        </p:nvSpPr>
        <p:spPr>
          <a:xfrm>
            <a:off x="11505538" y="6664498"/>
            <a:ext cx="6047950" cy="2942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Queries</a:t>
            </a:r>
            <a:endParaRPr lang="en-US" sz="1725" dirty="0"/>
          </a:p>
        </p:txBody>
      </p:sp>
      <p:sp>
        <p:nvSpPr>
          <p:cNvPr id="48" name="Text 46"/>
          <p:cNvSpPr/>
          <p:nvPr/>
        </p:nvSpPr>
        <p:spPr>
          <a:xfrm>
            <a:off x="11505538" y="6958653"/>
            <a:ext cx="5663080" cy="582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queries answering territory, category, salesperson, and trend questions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185" y="-380950"/>
            <a:ext cx="1219140" cy="2190650"/>
          </a:xfrm>
          <a:prstGeom prst="rect">
            <a:avLst/>
          </a:prstGeom>
          <a:gradFill rotWithShape="1">
            <a:gsLst>
              <a:gs pos="0">
                <a:srgbClr val="1F9A66">
                  <a:alpha val="100000"/>
                </a:srgbClr>
              </a:gs>
              <a:gs pos="100000">
                <a:srgbClr val="0B5638">
                  <a:alpha val="100000"/>
                </a:srgbClr>
              </a:gs>
            </a:gsLst>
            <a:lin ang="4500000" scaled="0"/>
          </a:gradFill>
          <a:ln/>
        </p:spPr>
      </p:sp>
      <p:sp>
        <p:nvSpPr>
          <p:cNvPr id="3" name="Shape 1"/>
          <p:cNvSpPr/>
          <p:nvPr/>
        </p:nvSpPr>
        <p:spPr>
          <a:xfrm>
            <a:off x="742890" y="-380950"/>
            <a:ext cx="990520" cy="2362115"/>
          </a:xfrm>
          <a:prstGeom prst="rect">
            <a:avLst/>
          </a:prstGeom>
          <a:gradFill rotWithShape="1">
            <a:gsLst>
              <a:gs pos="0">
                <a:srgbClr val="D9564F">
                  <a:alpha val="100000"/>
                </a:srgbClr>
              </a:gs>
              <a:gs pos="100000">
                <a:srgbClr val="A82C28">
                  <a:alpha val="100000"/>
                </a:srgbClr>
              </a:gs>
            </a:gsLst>
            <a:lin ang="4500000" scaled="0"/>
          </a:gradFill>
          <a:ln/>
        </p:spPr>
      </p:sp>
      <p:sp>
        <p:nvSpPr>
          <p:cNvPr id="4" name="Shape 2"/>
          <p:cNvSpPr/>
          <p:nvPr/>
        </p:nvSpPr>
        <p:spPr>
          <a:xfrm>
            <a:off x="15621074" y="8191424"/>
            <a:ext cx="2666900" cy="2095475"/>
          </a:xfrm>
          <a:prstGeom prst="rect">
            <a:avLst/>
          </a:prstGeom>
          <a:solidFill>
            <a:srgbClr val="7BA7D6">
              <a:alpha val="4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1392" y="781035"/>
            <a:ext cx="18105190" cy="6063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390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</a:t>
            </a:r>
            <a:r>
              <a:rPr lang="en-US" sz="3900" b="1" dirty="0">
                <a:solidFill>
                  <a:srgbClr val="5B8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Demonstrated in This Project</a:t>
            </a:r>
            <a:endParaRPr lang="en-US" sz="3900" dirty="0"/>
          </a:p>
        </p:txBody>
      </p:sp>
      <p:sp>
        <p:nvSpPr>
          <p:cNvPr id="6" name="Shape 4"/>
          <p:cNvSpPr/>
          <p:nvPr/>
        </p:nvSpPr>
        <p:spPr>
          <a:xfrm>
            <a:off x="914355" y="1863603"/>
            <a:ext cx="5270516" cy="367830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914355" y="5533905"/>
            <a:ext cx="5270516" cy="9525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8" name="Shape 6"/>
          <p:cNvSpPr/>
          <p:nvPr/>
        </p:nvSpPr>
        <p:spPr>
          <a:xfrm>
            <a:off x="914355" y="1863603"/>
            <a:ext cx="5270516" cy="32017"/>
          </a:xfrm>
          <a:prstGeom prst="rect">
            <a:avLst/>
          </a:prstGeom>
          <a:solidFill>
            <a:srgbClr val="17835A"/>
          </a:solidFill>
          <a:ln/>
        </p:spPr>
      </p:sp>
      <p:sp>
        <p:nvSpPr>
          <p:cNvPr id="9" name="Shape 7"/>
          <p:cNvSpPr/>
          <p:nvPr/>
        </p:nvSpPr>
        <p:spPr>
          <a:xfrm>
            <a:off x="914355" y="1863603"/>
            <a:ext cx="9525" cy="3678306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10" name="Shape 8"/>
          <p:cNvSpPr/>
          <p:nvPr/>
        </p:nvSpPr>
        <p:spPr>
          <a:xfrm>
            <a:off x="6176867" y="1863603"/>
            <a:ext cx="9525" cy="3678306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11" name="Text 9"/>
          <p:cNvSpPr/>
          <p:nvPr/>
        </p:nvSpPr>
        <p:spPr>
          <a:xfrm>
            <a:off x="1284299" y="2238425"/>
            <a:ext cx="4983691" cy="342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Data Inspection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84299" y="2675903"/>
            <a:ext cx="4666547" cy="22584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677"/>
              </a:lnSpc>
              <a:buNone/>
            </a:pPr>
            <a:r>
              <a:rPr lang="en-US" sz="165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Null checks, duplicate detection, referential integrity, date format audit, character encoding fix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6508666" y="1863603"/>
            <a:ext cx="5270516" cy="367830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6508666" y="5533905"/>
            <a:ext cx="5270516" cy="9525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15" name="Shape 13"/>
          <p:cNvSpPr/>
          <p:nvPr/>
        </p:nvSpPr>
        <p:spPr>
          <a:xfrm>
            <a:off x="6508666" y="1863603"/>
            <a:ext cx="5270516" cy="32017"/>
          </a:xfrm>
          <a:prstGeom prst="rect">
            <a:avLst/>
          </a:prstGeom>
          <a:solidFill>
            <a:srgbClr val="17835A"/>
          </a:solidFill>
          <a:ln/>
        </p:spPr>
      </p:sp>
      <p:sp>
        <p:nvSpPr>
          <p:cNvPr id="16" name="Shape 14"/>
          <p:cNvSpPr/>
          <p:nvPr/>
        </p:nvSpPr>
        <p:spPr>
          <a:xfrm>
            <a:off x="6508666" y="1863603"/>
            <a:ext cx="9525" cy="3678306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771178" y="1863603"/>
            <a:ext cx="9525" cy="3678306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18" name="Text 16"/>
          <p:cNvSpPr/>
          <p:nvPr/>
        </p:nvSpPr>
        <p:spPr>
          <a:xfrm>
            <a:off x="6878610" y="2238425"/>
            <a:ext cx="4983691" cy="342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Data Cleaning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6878610" y="2675903"/>
            <a:ext cx="4666547" cy="22584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>
              <a:lnSpc>
                <a:spcPct val="126677"/>
              </a:lnSpc>
            </a:pPr>
            <a:r>
              <a:rPr lang="en-US" sz="1650" dirty="0">
                <a:solidFill>
                  <a:srgbClr val="5A656E"/>
                </a:solidFill>
                <a:latin typeface="Arial" pitchFamily="34" charset="0"/>
                <a:cs typeface="Arial" pitchFamily="34" charset="-120"/>
              </a:rPr>
              <a:t>STR_TO_DATE parsing, TRIM across 3 tables, REPLACE for currency symbols, targeted UPDATE fix</a:t>
            </a:r>
          </a:p>
        </p:txBody>
      </p:sp>
      <p:sp>
        <p:nvSpPr>
          <p:cNvPr id="20" name="Shape 18"/>
          <p:cNvSpPr/>
          <p:nvPr/>
        </p:nvSpPr>
        <p:spPr>
          <a:xfrm>
            <a:off x="12102978" y="1863603"/>
            <a:ext cx="5270516" cy="367830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12102978" y="5533905"/>
            <a:ext cx="5270516" cy="9525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22" name="Shape 20"/>
          <p:cNvSpPr/>
          <p:nvPr/>
        </p:nvSpPr>
        <p:spPr>
          <a:xfrm>
            <a:off x="12102978" y="1863603"/>
            <a:ext cx="5270516" cy="32017"/>
          </a:xfrm>
          <a:prstGeom prst="rect">
            <a:avLst/>
          </a:prstGeom>
          <a:solidFill>
            <a:srgbClr val="17835A"/>
          </a:solidFill>
          <a:ln/>
        </p:spPr>
      </p:sp>
      <p:sp>
        <p:nvSpPr>
          <p:cNvPr id="23" name="Shape 21"/>
          <p:cNvSpPr/>
          <p:nvPr/>
        </p:nvSpPr>
        <p:spPr>
          <a:xfrm>
            <a:off x="12102978" y="1863603"/>
            <a:ext cx="9525" cy="3678306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24" name="Shape 22"/>
          <p:cNvSpPr/>
          <p:nvPr/>
        </p:nvSpPr>
        <p:spPr>
          <a:xfrm>
            <a:off x="17365489" y="1863603"/>
            <a:ext cx="9525" cy="3678306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25" name="Text 23"/>
          <p:cNvSpPr/>
          <p:nvPr/>
        </p:nvSpPr>
        <p:spPr>
          <a:xfrm>
            <a:off x="12472921" y="2238425"/>
            <a:ext cx="4983691" cy="342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View Architecture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2472921" y="2675904"/>
            <a:ext cx="4666547" cy="666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>
              <a:lnSpc>
                <a:spcPct val="126677"/>
              </a:lnSpc>
            </a:pPr>
            <a:r>
              <a:rPr lang="en-US" sz="2400" dirty="0">
                <a:solidFill>
                  <a:srgbClr val="5A656E"/>
                </a:solidFill>
                <a:latin typeface="Arial" pitchFamily="34" charset="0"/>
                <a:cs typeface="Arial" pitchFamily="34" charset="-120"/>
              </a:rPr>
              <a:t>Single analytical view joining 5 tables — Power BI reads one clean object, not raw tables</a:t>
            </a:r>
          </a:p>
        </p:txBody>
      </p:sp>
      <p:sp>
        <p:nvSpPr>
          <p:cNvPr id="27" name="Shape 25"/>
          <p:cNvSpPr/>
          <p:nvPr/>
        </p:nvSpPr>
        <p:spPr>
          <a:xfrm>
            <a:off x="914355" y="5865704"/>
            <a:ext cx="5270516" cy="367830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Shape 26"/>
          <p:cNvSpPr/>
          <p:nvPr/>
        </p:nvSpPr>
        <p:spPr>
          <a:xfrm>
            <a:off x="914355" y="9536005"/>
            <a:ext cx="5270516" cy="9525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29" name="Shape 27"/>
          <p:cNvSpPr/>
          <p:nvPr/>
        </p:nvSpPr>
        <p:spPr>
          <a:xfrm>
            <a:off x="914355" y="5865704"/>
            <a:ext cx="5270516" cy="32017"/>
          </a:xfrm>
          <a:prstGeom prst="rect">
            <a:avLst/>
          </a:prstGeom>
          <a:solidFill>
            <a:srgbClr val="5B8CC4"/>
          </a:solidFill>
          <a:ln/>
        </p:spPr>
      </p:sp>
      <p:sp>
        <p:nvSpPr>
          <p:cNvPr id="30" name="Shape 28"/>
          <p:cNvSpPr/>
          <p:nvPr/>
        </p:nvSpPr>
        <p:spPr>
          <a:xfrm>
            <a:off x="914355" y="5865704"/>
            <a:ext cx="9525" cy="3678306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31" name="Shape 29"/>
          <p:cNvSpPr/>
          <p:nvPr/>
        </p:nvSpPr>
        <p:spPr>
          <a:xfrm>
            <a:off x="6176867" y="5865704"/>
            <a:ext cx="9525" cy="3678306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32" name="Text 30"/>
          <p:cNvSpPr/>
          <p:nvPr/>
        </p:nvSpPr>
        <p:spPr>
          <a:xfrm>
            <a:off x="1284299" y="6240525"/>
            <a:ext cx="4983691" cy="342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BI &amp; DAX</a:t>
            </a:r>
            <a:endParaRPr lang="en-US" sz="2100" dirty="0"/>
          </a:p>
        </p:txBody>
      </p:sp>
      <p:sp>
        <p:nvSpPr>
          <p:cNvPr id="33" name="Text 31"/>
          <p:cNvSpPr/>
          <p:nvPr/>
        </p:nvSpPr>
        <p:spPr>
          <a:xfrm>
            <a:off x="1284299" y="6678005"/>
            <a:ext cx="4666547" cy="9813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6677"/>
              </a:lnSpc>
              <a:buNone/>
            </a:pPr>
            <a:r>
              <a:rPr lang="en-US" sz="165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MySQL connection, DISTINCTCO</a:t>
            </a:r>
            <a:r>
              <a:rPr lang="en-US" sz="1700" dirty="0">
                <a:solidFill>
                  <a:srgbClr val="5A656E"/>
                </a:solidFill>
                <a:latin typeface="Arial" pitchFamily="34" charset="0"/>
                <a:cs typeface="Arial" pitchFamily="34" charset="-120"/>
              </a:rPr>
              <a:t>U</a:t>
            </a:r>
            <a:r>
              <a:rPr lang="en-US" sz="165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 and DIVIDE measures, 3-page dashboard, tile slicers, cross-filtering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6508666" y="5865704"/>
            <a:ext cx="5270516" cy="367830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Shape 33"/>
          <p:cNvSpPr/>
          <p:nvPr/>
        </p:nvSpPr>
        <p:spPr>
          <a:xfrm>
            <a:off x="6508666" y="9536005"/>
            <a:ext cx="5270516" cy="9525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36" name="Shape 34"/>
          <p:cNvSpPr/>
          <p:nvPr/>
        </p:nvSpPr>
        <p:spPr>
          <a:xfrm>
            <a:off x="6508666" y="5865704"/>
            <a:ext cx="5270516" cy="32017"/>
          </a:xfrm>
          <a:prstGeom prst="rect">
            <a:avLst/>
          </a:prstGeom>
          <a:solidFill>
            <a:srgbClr val="5B8CC4"/>
          </a:solidFill>
          <a:ln/>
        </p:spPr>
      </p:sp>
      <p:sp>
        <p:nvSpPr>
          <p:cNvPr id="37" name="Shape 35"/>
          <p:cNvSpPr/>
          <p:nvPr/>
        </p:nvSpPr>
        <p:spPr>
          <a:xfrm>
            <a:off x="6508666" y="5865704"/>
            <a:ext cx="9525" cy="3678306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38" name="Shape 36"/>
          <p:cNvSpPr/>
          <p:nvPr/>
        </p:nvSpPr>
        <p:spPr>
          <a:xfrm>
            <a:off x="11771178" y="5865704"/>
            <a:ext cx="9525" cy="3678306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39" name="Text 37"/>
          <p:cNvSpPr/>
          <p:nvPr/>
        </p:nvSpPr>
        <p:spPr>
          <a:xfrm>
            <a:off x="6878610" y="6240525"/>
            <a:ext cx="4983691" cy="342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Insight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6878610" y="6678005"/>
            <a:ext cx="4666547" cy="9813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6677"/>
              </a:lnSpc>
              <a:buNone/>
            </a:pPr>
            <a:r>
              <a:rPr lang="en-US" sz="165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Translated territory data into 3 actionable recommendations tied to reseller coverage and </a:t>
            </a:r>
            <a:r>
              <a:rPr lang="en-US" sz="1700" dirty="0">
                <a:solidFill>
                  <a:srgbClr val="5A656E"/>
                </a:solidFill>
                <a:latin typeface="Arial" pitchFamily="34" charset="0"/>
                <a:cs typeface="Arial" pitchFamily="34" charset="-120"/>
              </a:rPr>
              <a:t>engagement</a:t>
            </a:r>
          </a:p>
        </p:txBody>
      </p:sp>
      <p:sp>
        <p:nvSpPr>
          <p:cNvPr id="41" name="Shape 39"/>
          <p:cNvSpPr/>
          <p:nvPr/>
        </p:nvSpPr>
        <p:spPr>
          <a:xfrm>
            <a:off x="12102978" y="5865704"/>
            <a:ext cx="5270516" cy="367830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Shape 40"/>
          <p:cNvSpPr/>
          <p:nvPr/>
        </p:nvSpPr>
        <p:spPr>
          <a:xfrm>
            <a:off x="12102978" y="9536005"/>
            <a:ext cx="5270516" cy="9525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43" name="Shape 41"/>
          <p:cNvSpPr/>
          <p:nvPr/>
        </p:nvSpPr>
        <p:spPr>
          <a:xfrm>
            <a:off x="12102978" y="5865704"/>
            <a:ext cx="5270516" cy="32017"/>
          </a:xfrm>
          <a:prstGeom prst="rect">
            <a:avLst/>
          </a:prstGeom>
          <a:solidFill>
            <a:srgbClr val="C43B3B"/>
          </a:solidFill>
          <a:ln/>
        </p:spPr>
      </p:sp>
      <p:sp>
        <p:nvSpPr>
          <p:cNvPr id="44" name="Shape 42"/>
          <p:cNvSpPr/>
          <p:nvPr/>
        </p:nvSpPr>
        <p:spPr>
          <a:xfrm>
            <a:off x="12102978" y="5865704"/>
            <a:ext cx="9525" cy="3678306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45" name="Shape 43"/>
          <p:cNvSpPr/>
          <p:nvPr/>
        </p:nvSpPr>
        <p:spPr>
          <a:xfrm>
            <a:off x="17365489" y="5865704"/>
            <a:ext cx="9525" cy="3678306"/>
          </a:xfrm>
          <a:prstGeom prst="rect">
            <a:avLst/>
          </a:prstGeom>
          <a:solidFill>
            <a:srgbClr val="E2E2DE"/>
          </a:solidFill>
          <a:ln/>
        </p:spPr>
      </p:sp>
      <p:sp>
        <p:nvSpPr>
          <p:cNvPr id="46" name="Text 44"/>
          <p:cNvSpPr/>
          <p:nvPr/>
        </p:nvSpPr>
        <p:spPr>
          <a:xfrm>
            <a:off x="12472921" y="6240525"/>
            <a:ext cx="4983691" cy="342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</a:t>
            </a:r>
            <a:endParaRPr lang="en-US" sz="2100" dirty="0"/>
          </a:p>
        </p:txBody>
      </p:sp>
      <p:sp>
        <p:nvSpPr>
          <p:cNvPr id="47" name="Text 45"/>
          <p:cNvSpPr/>
          <p:nvPr/>
        </p:nvSpPr>
        <p:spPr>
          <a:xfrm>
            <a:off x="12472921" y="6678005"/>
            <a:ext cx="4666547" cy="13705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677"/>
              </a:lnSpc>
              <a:buNone/>
            </a:pPr>
            <a:r>
              <a:rPr lang="en-US" sz="165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README in narrative style, SQL file with inline </a:t>
            </a:r>
            <a:r>
              <a:rPr lang="en-US" sz="1650" dirty="0">
                <a:solidFill>
                  <a:srgbClr val="5A656E"/>
                </a:solidFill>
                <a:latin typeface="Arial" pitchFamily="34" charset="0"/>
                <a:cs typeface="Arial" pitchFamily="34" charset="-120"/>
              </a:rPr>
              <a:t>comments</a:t>
            </a:r>
            <a:r>
              <a:rPr lang="en-US" sz="165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pipeline architecture diagram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90475" y="-476250"/>
            <a:ext cx="2000175" cy="3810000"/>
          </a:xfrm>
          <a:prstGeom prst="rect">
            <a:avLst/>
          </a:prstGeom>
          <a:gradFill rotWithShape="1">
            <a:gsLst>
              <a:gs pos="0">
                <a:srgbClr val="1F9A66">
                  <a:alpha val="100000"/>
                </a:srgbClr>
              </a:gs>
              <a:gs pos="100000">
                <a:srgbClr val="0B5638">
                  <a:alpha val="100000"/>
                </a:srgbClr>
              </a:gs>
            </a:gsLst>
            <a:lin ang="4500000" scaled="0"/>
          </a:gradFill>
          <a:ln/>
        </p:spPr>
      </p:sp>
      <p:sp>
        <p:nvSpPr>
          <p:cNvPr id="3" name="Shape 1"/>
          <p:cNvSpPr/>
          <p:nvPr/>
        </p:nvSpPr>
        <p:spPr>
          <a:xfrm>
            <a:off x="1219140" y="-476250"/>
            <a:ext cx="1571575" cy="4095650"/>
          </a:xfrm>
          <a:prstGeom prst="rect">
            <a:avLst/>
          </a:prstGeom>
          <a:gradFill rotWithShape="1">
            <a:gsLst>
              <a:gs pos="0">
                <a:srgbClr val="D9564F">
                  <a:alpha val="100000"/>
                </a:srgbClr>
              </a:gs>
              <a:gs pos="100000">
                <a:srgbClr val="A82C28">
                  <a:alpha val="100000"/>
                </a:srgbClr>
              </a:gs>
            </a:gsLst>
            <a:lin ang="4500000" scaled="0"/>
          </a:gradFill>
          <a:ln/>
        </p:spPr>
      </p:sp>
      <p:sp>
        <p:nvSpPr>
          <p:cNvPr id="4" name="Shape 2"/>
          <p:cNvSpPr/>
          <p:nvPr/>
        </p:nvSpPr>
        <p:spPr>
          <a:xfrm>
            <a:off x="114185" y="114185"/>
            <a:ext cx="1444758" cy="1444758"/>
          </a:xfrm>
          <a:prstGeom prst="rect">
            <a:avLst/>
          </a:prstGeom>
          <a:ln w="8004">
            <a:solidFill>
              <a:srgbClr val="9FC0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287499" y="7048449"/>
            <a:ext cx="4000475" cy="3238450"/>
          </a:xfrm>
          <a:prstGeom prst="rect">
            <a:avLst/>
          </a:prstGeom>
          <a:solidFill>
            <a:srgbClr val="7BA7D6">
              <a:alpha val="4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2762200" y="3905175"/>
            <a:ext cx="13096874" cy="30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360" dirty="0">
                <a:solidFill>
                  <a:srgbClr val="178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762200" y="4359788"/>
            <a:ext cx="13096874" cy="9707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8950"/>
              </a:lnSpc>
              <a:buNone/>
            </a:pPr>
            <a:r>
              <a:rPr lang="en-US" sz="720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BI</a:t>
            </a:r>
            <a:endParaRPr lang="en-US" sz="7200" dirty="0"/>
          </a:p>
        </p:txBody>
      </p:sp>
      <p:sp>
        <p:nvSpPr>
          <p:cNvPr id="8" name="Text 6"/>
          <p:cNvSpPr/>
          <p:nvPr/>
        </p:nvSpPr>
        <p:spPr>
          <a:xfrm>
            <a:off x="2762200" y="5292403"/>
            <a:ext cx="13096874" cy="9707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8950"/>
              </a:lnSpc>
              <a:buNone/>
            </a:pPr>
            <a:r>
              <a:rPr lang="en-US" sz="7200" b="1" dirty="0">
                <a:solidFill>
                  <a:srgbClr val="8FB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Preview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2762200" y="6548812"/>
            <a:ext cx="13096874" cy="4142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pages — Executive Summary · Territory Deep Dive · Product Performance</a:t>
            </a:r>
            <a:endParaRPr lang="en-US" sz="2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175" y="-380950"/>
            <a:ext cx="1066685" cy="1905000"/>
          </a:xfrm>
          <a:prstGeom prst="rect">
            <a:avLst/>
          </a:prstGeom>
          <a:gradFill rotWithShape="1">
            <a:gsLst>
              <a:gs pos="0">
                <a:srgbClr val="1F9A66">
                  <a:alpha val="100000"/>
                </a:srgbClr>
              </a:gs>
              <a:gs pos="100000">
                <a:srgbClr val="0B5638">
                  <a:alpha val="100000"/>
                </a:srgbClr>
              </a:gs>
            </a:gsLst>
            <a:lin ang="4500000" scaled="0"/>
          </a:gradFill>
          <a:ln/>
        </p:spPr>
      </p:sp>
      <p:sp>
        <p:nvSpPr>
          <p:cNvPr id="3" name="Shape 1"/>
          <p:cNvSpPr/>
          <p:nvPr/>
        </p:nvSpPr>
        <p:spPr>
          <a:xfrm>
            <a:off x="647590" y="-380950"/>
            <a:ext cx="876210" cy="2057330"/>
          </a:xfrm>
          <a:prstGeom prst="rect">
            <a:avLst/>
          </a:prstGeom>
          <a:gradFill rotWithShape="1">
            <a:gsLst>
              <a:gs pos="0">
                <a:srgbClr val="D9564F">
                  <a:alpha val="100000"/>
                </a:srgbClr>
              </a:gs>
              <a:gs pos="100000">
                <a:srgbClr val="A82C28">
                  <a:alpha val="100000"/>
                </a:srgbClr>
              </a:gs>
            </a:gsLst>
            <a:lin ang="4500000" scaled="0"/>
          </a:gradFill>
          <a:ln/>
        </p:spPr>
      </p:sp>
      <p:sp>
        <p:nvSpPr>
          <p:cNvPr id="4" name="Text 2"/>
          <p:cNvSpPr/>
          <p:nvPr/>
        </p:nvSpPr>
        <p:spPr>
          <a:xfrm>
            <a:off x="91392" y="666725"/>
            <a:ext cx="18105190" cy="5503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345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</a:t>
            </a:r>
            <a:r>
              <a:rPr lang="en-US" sz="3450" b="1" dirty="0">
                <a:solidFill>
                  <a:srgbClr val="5B8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3450" dirty="0"/>
          </a:p>
        </p:txBody>
      </p:sp>
      <p:sp>
        <p:nvSpPr>
          <p:cNvPr id="5" name="Text 3"/>
          <p:cNvSpPr/>
          <p:nvPr/>
        </p:nvSpPr>
        <p:spPr>
          <a:xfrm>
            <a:off x="91392" y="1255159"/>
            <a:ext cx="18105190" cy="334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65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Cards · Territory Bar Chart · Monthly Trend · Salesperson Scatter · 3 Slicers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14355" y="1836964"/>
            <a:ext cx="16459264" cy="7139497"/>
          </a:xfrm>
          <a:prstGeom prst="rect">
            <a:avLst/>
          </a:prstGeom>
          <a:solidFill>
            <a:srgbClr val="FFFFFF"/>
          </a:solidFill>
          <a:ln w="8004">
            <a:solidFill>
              <a:srgbClr val="E2E2DE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12377" r="-12377"/>
          <a:stretch/>
        </p:blipFill>
        <p:spPr>
          <a:xfrm>
            <a:off x="1093699" y="2016308"/>
            <a:ext cx="16100575" cy="6780809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355" y="9204956"/>
            <a:ext cx="40021" cy="510518"/>
          </a:xfrm>
          <a:prstGeom prst="rect">
            <a:avLst/>
          </a:prstGeom>
          <a:solidFill>
            <a:srgbClr val="C43B3B"/>
          </a:solidFill>
          <a:ln/>
        </p:spPr>
      </p:sp>
      <p:sp>
        <p:nvSpPr>
          <p:cNvPr id="9" name="Text 6"/>
          <p:cNvSpPr/>
          <p:nvPr/>
        </p:nvSpPr>
        <p:spPr>
          <a:xfrm>
            <a:off x="1182871" y="9300131"/>
            <a:ext cx="17809823" cy="3582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Insight: </a:t>
            </a:r>
            <a:r>
              <a:rPr lang="en-US" sz="18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Australia &amp; Germany — lowest territory volume of all ten markets.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175" y="-380950"/>
            <a:ext cx="1066685" cy="1905000"/>
          </a:xfrm>
          <a:prstGeom prst="rect">
            <a:avLst/>
          </a:prstGeom>
          <a:gradFill rotWithShape="1">
            <a:gsLst>
              <a:gs pos="0">
                <a:srgbClr val="1F9A66">
                  <a:alpha val="100000"/>
                </a:srgbClr>
              </a:gs>
              <a:gs pos="100000">
                <a:srgbClr val="0B5638">
                  <a:alpha val="100000"/>
                </a:srgbClr>
              </a:gs>
            </a:gsLst>
            <a:lin ang="4500000" scaled="0"/>
          </a:gradFill>
          <a:ln/>
        </p:spPr>
      </p:sp>
      <p:sp>
        <p:nvSpPr>
          <p:cNvPr id="3" name="Shape 1"/>
          <p:cNvSpPr/>
          <p:nvPr/>
        </p:nvSpPr>
        <p:spPr>
          <a:xfrm>
            <a:off x="647590" y="-380950"/>
            <a:ext cx="876210" cy="2057330"/>
          </a:xfrm>
          <a:prstGeom prst="rect">
            <a:avLst/>
          </a:prstGeom>
          <a:gradFill rotWithShape="1">
            <a:gsLst>
              <a:gs pos="0">
                <a:srgbClr val="D9564F">
                  <a:alpha val="100000"/>
                </a:srgbClr>
              </a:gs>
              <a:gs pos="100000">
                <a:srgbClr val="A82C28">
                  <a:alpha val="100000"/>
                </a:srgbClr>
              </a:gs>
            </a:gsLst>
            <a:lin ang="4500000" scaled="0"/>
          </a:gradFill>
          <a:ln/>
        </p:spPr>
      </p:sp>
      <p:sp>
        <p:nvSpPr>
          <p:cNvPr id="4" name="Text 2"/>
          <p:cNvSpPr/>
          <p:nvPr/>
        </p:nvSpPr>
        <p:spPr>
          <a:xfrm>
            <a:off x="91392" y="666725"/>
            <a:ext cx="18105190" cy="5503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345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Territory </a:t>
            </a:r>
            <a:r>
              <a:rPr lang="en-US" sz="3450" b="1" dirty="0">
                <a:solidFill>
                  <a:srgbClr val="5B8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Dive</a:t>
            </a:r>
            <a:endParaRPr lang="en-US" sz="3450" dirty="0"/>
          </a:p>
        </p:txBody>
      </p:sp>
      <p:sp>
        <p:nvSpPr>
          <p:cNvPr id="5" name="Text 3"/>
          <p:cNvSpPr/>
          <p:nvPr/>
        </p:nvSpPr>
        <p:spPr>
          <a:xfrm>
            <a:off x="91392" y="1255159"/>
            <a:ext cx="18105190" cy="334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65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× Category Matrix · Reseller Coverage Chart · Orders by Salesperson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14355" y="1836964"/>
            <a:ext cx="16459264" cy="7139497"/>
          </a:xfrm>
          <a:prstGeom prst="rect">
            <a:avLst/>
          </a:prstGeom>
          <a:solidFill>
            <a:srgbClr val="FFFFFF"/>
          </a:solidFill>
          <a:ln w="8004">
            <a:solidFill>
              <a:srgbClr val="E2E2DE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20540" r="-20540"/>
          <a:stretch/>
        </p:blipFill>
        <p:spPr>
          <a:xfrm>
            <a:off x="1093699" y="2016308"/>
            <a:ext cx="16100575" cy="6780809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355" y="9204956"/>
            <a:ext cx="40021" cy="510518"/>
          </a:xfrm>
          <a:prstGeom prst="rect">
            <a:avLst/>
          </a:prstGeom>
          <a:solidFill>
            <a:srgbClr val="17835A"/>
          </a:solidFill>
          <a:ln/>
        </p:spPr>
      </p:sp>
      <p:sp>
        <p:nvSpPr>
          <p:cNvPr id="9" name="Text 6"/>
          <p:cNvSpPr/>
          <p:nvPr/>
        </p:nvSpPr>
        <p:spPr>
          <a:xfrm>
            <a:off x="1182871" y="9300131"/>
            <a:ext cx="17809823" cy="3582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Insight: </a:t>
            </a:r>
            <a:r>
              <a:rPr lang="en-US" sz="18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Tsvi Reiter at 400+ orders — nearly double the team average, top of the bar chart.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175" y="-380950"/>
            <a:ext cx="1066685" cy="1905000"/>
          </a:xfrm>
          <a:prstGeom prst="rect">
            <a:avLst/>
          </a:prstGeom>
          <a:gradFill rotWithShape="1">
            <a:gsLst>
              <a:gs pos="0">
                <a:srgbClr val="1F9A66">
                  <a:alpha val="100000"/>
                </a:srgbClr>
              </a:gs>
              <a:gs pos="100000">
                <a:srgbClr val="0B5638">
                  <a:alpha val="100000"/>
                </a:srgbClr>
              </a:gs>
            </a:gsLst>
            <a:lin ang="4500000" scaled="0"/>
          </a:gradFill>
          <a:ln/>
        </p:spPr>
      </p:sp>
      <p:sp>
        <p:nvSpPr>
          <p:cNvPr id="3" name="Shape 1"/>
          <p:cNvSpPr/>
          <p:nvPr/>
        </p:nvSpPr>
        <p:spPr>
          <a:xfrm>
            <a:off x="647590" y="-380950"/>
            <a:ext cx="876210" cy="2057330"/>
          </a:xfrm>
          <a:prstGeom prst="rect">
            <a:avLst/>
          </a:prstGeom>
          <a:gradFill rotWithShape="1">
            <a:gsLst>
              <a:gs pos="0">
                <a:srgbClr val="D9564F">
                  <a:alpha val="100000"/>
                </a:srgbClr>
              </a:gs>
              <a:gs pos="100000">
                <a:srgbClr val="A82C28">
                  <a:alpha val="100000"/>
                </a:srgbClr>
              </a:gs>
            </a:gsLst>
            <a:lin ang="4500000" scaled="0"/>
          </a:gradFill>
          <a:ln/>
        </p:spPr>
      </p:sp>
      <p:sp>
        <p:nvSpPr>
          <p:cNvPr id="4" name="Text 2"/>
          <p:cNvSpPr/>
          <p:nvPr/>
        </p:nvSpPr>
        <p:spPr>
          <a:xfrm>
            <a:off x="91392" y="666725"/>
            <a:ext cx="18105190" cy="5503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345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</a:t>
            </a:r>
            <a:r>
              <a:rPr lang="en-US" sz="3450" b="1" dirty="0">
                <a:solidFill>
                  <a:srgbClr val="5B8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</a:t>
            </a:r>
            <a:endParaRPr lang="en-US" sz="3450" dirty="0"/>
          </a:p>
        </p:txBody>
      </p:sp>
      <p:sp>
        <p:nvSpPr>
          <p:cNvPr id="5" name="Text 3"/>
          <p:cNvSpPr/>
          <p:nvPr/>
        </p:nvSpPr>
        <p:spPr>
          <a:xfrm>
            <a:off x="91392" y="1255159"/>
            <a:ext cx="18105190" cy="334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65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Products · Orders by Category (Donut) · Orders by Subcategory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14355" y="1836964"/>
            <a:ext cx="16459264" cy="7139497"/>
          </a:xfrm>
          <a:prstGeom prst="rect">
            <a:avLst/>
          </a:prstGeom>
          <a:solidFill>
            <a:srgbClr val="FFFFFF"/>
          </a:solidFill>
          <a:ln w="8004">
            <a:solidFill>
              <a:srgbClr val="E2E2DE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18963" r="-18963"/>
          <a:stretch/>
        </p:blipFill>
        <p:spPr>
          <a:xfrm>
            <a:off x="1093699" y="2016308"/>
            <a:ext cx="16100575" cy="6780809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355" y="9204956"/>
            <a:ext cx="40021" cy="510518"/>
          </a:xfrm>
          <a:prstGeom prst="rect">
            <a:avLst/>
          </a:prstGeom>
          <a:solidFill>
            <a:srgbClr val="5B8CC4"/>
          </a:solidFill>
          <a:ln/>
        </p:spPr>
      </p:sp>
      <p:sp>
        <p:nvSpPr>
          <p:cNvPr id="9" name="Text 6"/>
          <p:cNvSpPr/>
          <p:nvPr/>
        </p:nvSpPr>
        <p:spPr>
          <a:xfrm>
            <a:off x="1182871" y="9300131"/>
            <a:ext cx="17809823" cy="3582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Insight: </a:t>
            </a:r>
            <a:r>
              <a:rPr lang="en-US" sz="18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Bikes = 33.2% of all orders · AWC Logo Cap &amp; Long-Sleeve Logo Jersey are top products.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561504" y="-2769505"/>
            <a:ext cx="2289929" cy="2289930"/>
          </a:xfrm>
          <a:prstGeom prst="rect">
            <a:avLst/>
          </a:prstGeom>
          <a:solidFill>
            <a:srgbClr val="DCE6EA"/>
          </a:solidFill>
          <a:ln/>
        </p:spPr>
      </p:sp>
      <p:sp>
        <p:nvSpPr>
          <p:cNvPr id="3" name="Shape 1"/>
          <p:cNvSpPr/>
          <p:nvPr/>
        </p:nvSpPr>
        <p:spPr>
          <a:xfrm>
            <a:off x="14814183" y="-264149"/>
            <a:ext cx="2289929" cy="1037252"/>
          </a:xfrm>
          <a:prstGeom prst="rect">
            <a:avLst/>
          </a:prstGeom>
          <a:solidFill>
            <a:srgbClr val="7FA8B8"/>
          </a:solidFill>
          <a:ln/>
        </p:spPr>
      </p:sp>
      <p:sp>
        <p:nvSpPr>
          <p:cNvPr id="4" name="Shape 2"/>
          <p:cNvSpPr/>
          <p:nvPr/>
        </p:nvSpPr>
        <p:spPr>
          <a:xfrm>
            <a:off x="16066861" y="-264149"/>
            <a:ext cx="2289930" cy="2289930"/>
          </a:xfrm>
          <a:prstGeom prst="rect">
            <a:avLst/>
          </a:prstGeom>
          <a:solidFill>
            <a:srgbClr val="EDF1F2"/>
          </a:solidFill>
          <a:ln/>
        </p:spPr>
      </p:sp>
      <p:sp>
        <p:nvSpPr>
          <p:cNvPr id="5" name="Shape 3"/>
          <p:cNvSpPr/>
          <p:nvPr/>
        </p:nvSpPr>
        <p:spPr>
          <a:xfrm>
            <a:off x="17319540" y="988530"/>
            <a:ext cx="1037252" cy="2289930"/>
          </a:xfrm>
          <a:prstGeom prst="rect">
            <a:avLst/>
          </a:prstGeom>
          <a:solidFill>
            <a:srgbClr val="3F7383"/>
          </a:solidFill>
          <a:ln/>
        </p:spPr>
      </p:sp>
      <p:sp>
        <p:nvSpPr>
          <p:cNvPr id="6" name="Shape 4"/>
          <p:cNvSpPr/>
          <p:nvPr/>
        </p:nvSpPr>
        <p:spPr>
          <a:xfrm>
            <a:off x="12308825" y="-1"/>
            <a:ext cx="2289929" cy="773103"/>
          </a:xfrm>
          <a:prstGeom prst="rect">
            <a:avLst/>
          </a:prstGeom>
          <a:solidFill>
            <a:srgbClr val="8FB4C2"/>
          </a:solidFill>
          <a:ln/>
        </p:spPr>
      </p:sp>
      <p:sp>
        <p:nvSpPr>
          <p:cNvPr id="7" name="Shape 5"/>
          <p:cNvSpPr/>
          <p:nvPr/>
        </p:nvSpPr>
        <p:spPr>
          <a:xfrm>
            <a:off x="13561504" y="-264149"/>
            <a:ext cx="2289929" cy="2289930"/>
          </a:xfrm>
          <a:prstGeom prst="rect">
            <a:avLst/>
          </a:prstGeom>
          <a:solidFill>
            <a:srgbClr val="2E6270"/>
          </a:solidFill>
          <a:ln/>
        </p:spPr>
      </p:sp>
      <p:sp>
        <p:nvSpPr>
          <p:cNvPr id="8" name="Shape 6"/>
          <p:cNvSpPr/>
          <p:nvPr/>
        </p:nvSpPr>
        <p:spPr>
          <a:xfrm>
            <a:off x="14814183" y="988530"/>
            <a:ext cx="2289929" cy="2289930"/>
          </a:xfrm>
          <a:prstGeom prst="rect">
            <a:avLst/>
          </a:prstGeom>
          <a:solidFill>
            <a:srgbClr val="DCE6EA"/>
          </a:solidFill>
          <a:ln/>
        </p:spPr>
      </p:sp>
      <p:sp>
        <p:nvSpPr>
          <p:cNvPr id="9" name="Shape 7"/>
          <p:cNvSpPr/>
          <p:nvPr/>
        </p:nvSpPr>
        <p:spPr>
          <a:xfrm>
            <a:off x="16066861" y="2241208"/>
            <a:ext cx="2289930" cy="2289930"/>
          </a:xfrm>
          <a:prstGeom prst="rect">
            <a:avLst/>
          </a:prstGeom>
          <a:solidFill>
            <a:srgbClr val="5E93A3"/>
          </a:solidFill>
          <a:ln/>
        </p:spPr>
      </p:sp>
      <p:sp>
        <p:nvSpPr>
          <p:cNvPr id="10" name="Shape 8"/>
          <p:cNvSpPr/>
          <p:nvPr/>
        </p:nvSpPr>
        <p:spPr>
          <a:xfrm>
            <a:off x="11056147" y="-200189"/>
            <a:ext cx="2289930" cy="2225970"/>
          </a:xfrm>
          <a:prstGeom prst="rect">
            <a:avLst/>
          </a:prstGeom>
          <a:solidFill>
            <a:srgbClr val="4C8C9C"/>
          </a:solidFill>
          <a:ln/>
        </p:spPr>
      </p:sp>
      <p:sp>
        <p:nvSpPr>
          <p:cNvPr id="11" name="Shape 9"/>
          <p:cNvSpPr/>
          <p:nvPr/>
        </p:nvSpPr>
        <p:spPr>
          <a:xfrm>
            <a:off x="12308825" y="988530"/>
            <a:ext cx="2289929" cy="2289930"/>
          </a:xfrm>
          <a:prstGeom prst="rect">
            <a:avLst/>
          </a:prstGeom>
          <a:solidFill>
            <a:srgbClr val="E4EBEE"/>
          </a:solidFill>
          <a:ln/>
        </p:spPr>
      </p:sp>
      <p:sp>
        <p:nvSpPr>
          <p:cNvPr id="12" name="Shape 10"/>
          <p:cNvSpPr/>
          <p:nvPr/>
        </p:nvSpPr>
        <p:spPr>
          <a:xfrm>
            <a:off x="13561504" y="2241208"/>
            <a:ext cx="2289929" cy="2289930"/>
          </a:xfrm>
          <a:prstGeom prst="rect">
            <a:avLst/>
          </a:prstGeom>
          <a:solidFill>
            <a:srgbClr val="6E9FAF"/>
          </a:solidFill>
          <a:ln/>
        </p:spPr>
      </p:sp>
      <p:sp>
        <p:nvSpPr>
          <p:cNvPr id="13" name="Shape 11"/>
          <p:cNvSpPr/>
          <p:nvPr/>
        </p:nvSpPr>
        <p:spPr>
          <a:xfrm>
            <a:off x="14814183" y="3493887"/>
            <a:ext cx="2289929" cy="2289930"/>
          </a:xfrm>
          <a:prstGeom prst="rect">
            <a:avLst/>
          </a:prstGeom>
          <a:solidFill>
            <a:srgbClr val="B7CCD4"/>
          </a:solidFill>
          <a:ln/>
        </p:spPr>
      </p:sp>
      <p:sp>
        <p:nvSpPr>
          <p:cNvPr id="14" name="Shape 12"/>
          <p:cNvSpPr/>
          <p:nvPr/>
        </p:nvSpPr>
        <p:spPr>
          <a:xfrm>
            <a:off x="9803469" y="988530"/>
            <a:ext cx="2289929" cy="2289930"/>
          </a:xfrm>
          <a:prstGeom prst="rect">
            <a:avLst/>
          </a:prstGeom>
          <a:solidFill>
            <a:srgbClr val="EDF1F2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56147" y="2241208"/>
            <a:ext cx="2289930" cy="2289930"/>
          </a:xfrm>
          <a:prstGeom prst="rect">
            <a:avLst/>
          </a:prstGeom>
          <a:solidFill>
            <a:srgbClr val="5E93A3"/>
          </a:solidFill>
          <a:ln/>
        </p:spPr>
      </p:sp>
      <p:sp>
        <p:nvSpPr>
          <p:cNvPr id="16" name="Shape 14"/>
          <p:cNvSpPr/>
          <p:nvPr/>
        </p:nvSpPr>
        <p:spPr>
          <a:xfrm>
            <a:off x="12308825" y="3493887"/>
            <a:ext cx="2289929" cy="2289930"/>
          </a:xfrm>
          <a:prstGeom prst="rect">
            <a:avLst/>
          </a:prstGeom>
          <a:solidFill>
            <a:srgbClr val="31697A"/>
          </a:solidFill>
          <a:ln/>
        </p:spPr>
      </p:sp>
      <p:sp>
        <p:nvSpPr>
          <p:cNvPr id="17" name="Shape 15"/>
          <p:cNvSpPr/>
          <p:nvPr/>
        </p:nvSpPr>
        <p:spPr>
          <a:xfrm>
            <a:off x="13561504" y="4746565"/>
            <a:ext cx="2289929" cy="2289930"/>
          </a:xfrm>
          <a:prstGeom prst="rect">
            <a:avLst/>
          </a:prstGeom>
          <a:solidFill>
            <a:srgbClr val="CFDDE3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9049" y="0"/>
            <a:ext cx="7238924" cy="10286899"/>
          </a:xfrm>
          <a:prstGeom prst="rect">
            <a:avLst/>
          </a:prstGeom>
          <a:gradFill rotWithShape="1">
            <a:gsLst>
              <a:gs pos="0">
                <a:srgbClr val="F4F4F2">
                  <a:alpha val="100000"/>
                </a:srgbClr>
              </a:gs>
              <a:gs pos="30000">
                <a:srgbClr val="F4F4F2">
                  <a:alpha val="100000"/>
                </a:srgbClr>
              </a:gs>
              <a:gs pos="70000">
                <a:srgbClr val="F4F4F2">
                  <a:alpha val="5000"/>
                </a:srgbClr>
              </a:gs>
            </a:gsLst>
            <a:lin ang="600000" scaled="0"/>
          </a:gradFill>
          <a:ln/>
        </p:spPr>
      </p:sp>
      <p:sp>
        <p:nvSpPr>
          <p:cNvPr id="19" name="Shape 17"/>
          <p:cNvSpPr/>
          <p:nvPr/>
        </p:nvSpPr>
        <p:spPr>
          <a:xfrm>
            <a:off x="133320" y="-380950"/>
            <a:ext cx="1523925" cy="2762200"/>
          </a:xfrm>
          <a:prstGeom prst="rect">
            <a:avLst/>
          </a:prstGeom>
          <a:gradFill rotWithShape="1">
            <a:gsLst>
              <a:gs pos="0">
                <a:srgbClr val="1F9A66">
                  <a:alpha val="100000"/>
                </a:srgbClr>
              </a:gs>
              <a:gs pos="100000">
                <a:srgbClr val="0B5638">
                  <a:alpha val="100000"/>
                </a:srgbClr>
              </a:gs>
            </a:gsLst>
            <a:lin ang="4500000" scaled="0"/>
          </a:gradFill>
          <a:ln/>
        </p:spPr>
      </p:sp>
      <p:sp>
        <p:nvSpPr>
          <p:cNvPr id="20" name="Shape 18"/>
          <p:cNvSpPr/>
          <p:nvPr/>
        </p:nvSpPr>
        <p:spPr>
          <a:xfrm>
            <a:off x="914355" y="-380950"/>
            <a:ext cx="1200130" cy="2952675"/>
          </a:xfrm>
          <a:prstGeom prst="rect">
            <a:avLst/>
          </a:prstGeom>
          <a:gradFill rotWithShape="1">
            <a:gsLst>
              <a:gs pos="0">
                <a:srgbClr val="D9564F">
                  <a:alpha val="100000"/>
                </a:srgbClr>
              </a:gs>
              <a:gs pos="100000">
                <a:srgbClr val="A82C28">
                  <a:alpha val="100000"/>
                </a:srgbClr>
              </a:gs>
            </a:gsLst>
            <a:lin ang="4500000" scaled="0"/>
          </a:gradFill>
          <a:ln/>
        </p:spPr>
      </p:sp>
      <p:sp>
        <p:nvSpPr>
          <p:cNvPr id="21" name="Shape 19"/>
          <p:cNvSpPr/>
          <p:nvPr/>
        </p:nvSpPr>
        <p:spPr>
          <a:xfrm>
            <a:off x="95175" y="95175"/>
            <a:ext cx="1139848" cy="1139848"/>
          </a:xfrm>
          <a:prstGeom prst="rect">
            <a:avLst/>
          </a:prstGeom>
          <a:ln w="8004">
            <a:solidFill>
              <a:srgbClr val="9FC0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57285" y="3143150"/>
            <a:ext cx="10477499" cy="11049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111"/>
              </a:lnSpc>
              <a:buNone/>
            </a:pPr>
            <a:r>
              <a:rPr lang="en-US" sz="8400" b="1" i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8400" dirty="0"/>
          </a:p>
        </p:txBody>
      </p:sp>
      <p:sp>
        <p:nvSpPr>
          <p:cNvPr id="23" name="Text 21"/>
          <p:cNvSpPr/>
          <p:nvPr/>
        </p:nvSpPr>
        <p:spPr>
          <a:xfrm>
            <a:off x="1257285" y="4419445"/>
            <a:ext cx="10477499" cy="4142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i="1" dirty="0">
                <a:solidFill>
                  <a:srgbClr val="8FB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AdventureWorks Full-Stack Sales Pipeline</a:t>
            </a:r>
            <a:endParaRPr lang="en-US" sz="2550" dirty="0"/>
          </a:p>
        </p:txBody>
      </p:sp>
      <p:sp>
        <p:nvSpPr>
          <p:cNvPr id="24" name="Shape 22"/>
          <p:cNvSpPr/>
          <p:nvPr/>
        </p:nvSpPr>
        <p:spPr>
          <a:xfrm>
            <a:off x="1257285" y="5367067"/>
            <a:ext cx="2000175" cy="1186373"/>
          </a:xfrm>
          <a:prstGeom prst="rect">
            <a:avLst/>
          </a:prstGeom>
          <a:solidFill>
            <a:srgbClr val="FFFFFF"/>
          </a:solidFill>
          <a:ln w="8004">
            <a:solidFill>
              <a:srgbClr val="E2E2D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493784" y="5584556"/>
            <a:ext cx="1679894" cy="457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267"/>
              </a:lnSpc>
              <a:buNone/>
            </a:pPr>
            <a:r>
              <a:rPr lang="en-US" sz="3300" b="1" dirty="0">
                <a:solidFill>
                  <a:srgbClr val="178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</a:t>
            </a:r>
            <a:endParaRPr lang="en-US" sz="3300" dirty="0"/>
          </a:p>
        </p:txBody>
      </p:sp>
      <p:sp>
        <p:nvSpPr>
          <p:cNvPr id="26" name="Text 24"/>
          <p:cNvSpPr/>
          <p:nvPr/>
        </p:nvSpPr>
        <p:spPr>
          <a:xfrm>
            <a:off x="1493784" y="6079816"/>
            <a:ext cx="1679894" cy="2942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Orders Analyzed</a:t>
            </a:r>
            <a:endParaRPr lang="en-US" sz="1425" dirty="0"/>
          </a:p>
        </p:txBody>
      </p:sp>
      <p:sp>
        <p:nvSpPr>
          <p:cNvPr id="27" name="Shape 25"/>
          <p:cNvSpPr/>
          <p:nvPr/>
        </p:nvSpPr>
        <p:spPr>
          <a:xfrm>
            <a:off x="3447935" y="5367067"/>
            <a:ext cx="2000300" cy="1186373"/>
          </a:xfrm>
          <a:prstGeom prst="rect">
            <a:avLst/>
          </a:prstGeom>
          <a:solidFill>
            <a:srgbClr val="FFFFFF"/>
          </a:solidFill>
          <a:ln w="8004">
            <a:solidFill>
              <a:srgbClr val="E2E2D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84434" y="5584556"/>
            <a:ext cx="1680032" cy="457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267"/>
              </a:lnSpc>
              <a:buNone/>
            </a:pPr>
            <a:r>
              <a:rPr lang="en-US" sz="3300" b="1" dirty="0">
                <a:solidFill>
                  <a:srgbClr val="5B8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632</a:t>
            </a:r>
            <a:endParaRPr lang="en-US" sz="3300" dirty="0"/>
          </a:p>
        </p:txBody>
      </p:sp>
      <p:sp>
        <p:nvSpPr>
          <p:cNvPr id="29" name="Text 27"/>
          <p:cNvSpPr/>
          <p:nvPr/>
        </p:nvSpPr>
        <p:spPr>
          <a:xfrm>
            <a:off x="3684434" y="6079816"/>
            <a:ext cx="1680032" cy="2942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Resellers</a:t>
            </a:r>
            <a:endParaRPr lang="en-US" sz="1425" dirty="0"/>
          </a:p>
        </p:txBody>
      </p:sp>
      <p:sp>
        <p:nvSpPr>
          <p:cNvPr id="30" name="Shape 28"/>
          <p:cNvSpPr/>
          <p:nvPr/>
        </p:nvSpPr>
        <p:spPr>
          <a:xfrm>
            <a:off x="5638710" y="5367067"/>
            <a:ext cx="2000300" cy="1186373"/>
          </a:xfrm>
          <a:prstGeom prst="rect">
            <a:avLst/>
          </a:prstGeom>
          <a:solidFill>
            <a:srgbClr val="FFFFFF"/>
          </a:solidFill>
          <a:ln w="8004">
            <a:solidFill>
              <a:srgbClr val="E2E2D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875209" y="5584556"/>
            <a:ext cx="1680032" cy="457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267"/>
              </a:lnSpc>
              <a:buNone/>
            </a:pPr>
            <a:r>
              <a:rPr lang="en-US" sz="3300" b="1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300" dirty="0"/>
          </a:p>
        </p:txBody>
      </p:sp>
      <p:sp>
        <p:nvSpPr>
          <p:cNvPr id="32" name="Text 30"/>
          <p:cNvSpPr/>
          <p:nvPr/>
        </p:nvSpPr>
        <p:spPr>
          <a:xfrm>
            <a:off x="5875209" y="6079816"/>
            <a:ext cx="1680032" cy="2942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Territories</a:t>
            </a:r>
            <a:endParaRPr lang="en-US" sz="1425" dirty="0"/>
          </a:p>
        </p:txBody>
      </p:sp>
      <p:sp>
        <p:nvSpPr>
          <p:cNvPr id="33" name="Shape 31"/>
          <p:cNvSpPr/>
          <p:nvPr/>
        </p:nvSpPr>
        <p:spPr>
          <a:xfrm>
            <a:off x="7829484" y="5367067"/>
            <a:ext cx="2000300" cy="1186373"/>
          </a:xfrm>
          <a:prstGeom prst="rect">
            <a:avLst/>
          </a:prstGeom>
          <a:solidFill>
            <a:srgbClr val="FFFFFF"/>
          </a:solidFill>
          <a:ln w="8004">
            <a:solidFill>
              <a:srgbClr val="E2E2D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65984" y="5584556"/>
            <a:ext cx="1680032" cy="457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267"/>
              </a:lnSpc>
              <a:buNone/>
            </a:pPr>
            <a:r>
              <a:rPr lang="en-US" sz="3300" b="1" dirty="0">
                <a:solidFill>
                  <a:srgbClr val="C4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300" dirty="0"/>
          </a:p>
        </p:txBody>
      </p:sp>
      <p:sp>
        <p:nvSpPr>
          <p:cNvPr id="35" name="Text 33"/>
          <p:cNvSpPr/>
          <p:nvPr/>
        </p:nvSpPr>
        <p:spPr>
          <a:xfrm>
            <a:off x="8065984" y="6079816"/>
            <a:ext cx="1680032" cy="2942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Recommendations</a:t>
            </a:r>
            <a:endParaRPr lang="en-US" sz="1425" dirty="0"/>
          </a:p>
        </p:txBody>
      </p:sp>
      <p:sp>
        <p:nvSpPr>
          <p:cNvPr id="36" name="Text 34"/>
          <p:cNvSpPr/>
          <p:nvPr/>
        </p:nvSpPr>
        <p:spPr>
          <a:xfrm>
            <a:off x="1257285" y="6972535"/>
            <a:ext cx="10477499" cy="334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5A65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Tools: MySQL · SQL · Power BI · Data Modeling · Business Intelligence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1433</Words>
  <Application>Microsoft Office PowerPoint</Application>
  <PresentationFormat>Custom</PresentationFormat>
  <Paragraphs>259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Cody Cook</cp:lastModifiedBy>
  <cp:revision>3</cp:revision>
  <dcterms:created xsi:type="dcterms:W3CDTF">2026-09-05T10:12:58Z</dcterms:created>
  <dcterms:modified xsi:type="dcterms:W3CDTF">2026-09-05T10:19:42Z</dcterms:modified>
</cp:coreProperties>
</file>